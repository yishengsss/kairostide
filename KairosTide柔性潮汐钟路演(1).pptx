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5.png"/><Relationship Id="rId12" Type="http://schemas.microsoft.com/office/2007/relationships/media" Target="../media/media1.mp4"/><Relationship Id="rId11" Type="http://schemas.openxmlformats.org/officeDocument/2006/relationships/video" Target="../media/media1.mp4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adding: 0, background: '#0E1A24', position: 'relative' }}&gt;&#10;  &lt;Image src=&quot;assets/hero_tide.png&quot; style={{ position: 'absolute', top: 0, left: 0, width: 1280, height: 720, objectFit: 'cover' }} /&gt;&#10;  &lt;Box style={{ position: 'absolute', top: 0, left: 0, width: 1280, height: 720, background: 'linear-gradient(180deg, rgba(14,26,36,0.20) 0%, rgba(14,26,36,0.78) 100%)' }} /&gt;&#10;  &lt;Box style={{ position: 'absolute', left: 80, bottom: 70, width: 760 }}&gt;&#10;    &lt;Text style={{ fontSize: 18, color: '#D9B36C', letterSpacing: 8, fontFamily: &quot;'Source Han Serif SC','思源宋体',serif&quot; }}&gt;黑客松路演 · 柔性潮汐钟&lt;/Text&gt;&#10;    &lt;Text style={{ fontSize: 84, fontWeight: 'bold', color: '#F2EFE6', letterSpacing: 2, marginTop: 16, fontFamily: &quot;'Source Han Serif SC','思源宋体',serif&quot; }}&gt;Kairos Tide&lt;/Text&gt;&#10;    &lt;Box style={{ width: 64, height: 2, background: '#D9B36C', marginTop: 22 }} /&gt;&#10;    &lt;Text style={{ fontSize: 22, color: '#F2EFE6', opacity: 0.88, marginTop: 18, fontFamily: &quot;'Source Han Sans SC','思源黑体','Microsoft YaHei',sans-serif&quot; }}&gt;一块不显示刻度时间的潮汐钟 —— 找回「时间之流」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3993" b="399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A24">
                  <a:alpha val="20000"/>
                </a:srgbClr>
              </a:gs>
              <a:gs pos="100000">
                <a:srgbClr val="0E1A24">
                  <a:alpha val="78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762000" y="4210050"/>
            <a:ext cx="723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pc="600">
                <a:solidFill>
                  <a:srgbClr val="D9B36C"/>
                </a:solidFill>
                <a:latin typeface="Source Han Serif SC"/>
                <a:ea typeface="Source Han Serif SC"/>
              </a:rPr>
              <a:t>黑客松路演</a:t>
            </a:r>
            <a:r>
              <a:rPr lang="en-US" spc="600">
                <a:solidFill>
                  <a:srgbClr val="D9B36C"/>
                </a:solidFill>
                <a:latin typeface="Source Han Serif SC"/>
                <a:ea typeface="Source Han Serif SC"/>
              </a:rPr>
              <a:t> · </a:t>
            </a:r>
            <a:r>
              <a:rPr lang="zh-CN" spc="600">
                <a:solidFill>
                  <a:srgbClr val="D9B36C"/>
                </a:solidFill>
                <a:latin typeface="Source Han Serif SC"/>
                <a:ea typeface="Source Han Serif SC"/>
              </a:rPr>
              <a:t>柔性潮汐钟</a:t>
            </a:r>
            <a:endParaRPr lang="zh-CN" spc="600">
              <a:solidFill>
                <a:srgbClr val="D9B36C"/>
              </a:solidFill>
              <a:latin typeface="Source Han Serif SC"/>
              <a:ea typeface="Source Han Serif SC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762000" y="4600575"/>
            <a:ext cx="723900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150">
                <a:solidFill>
                  <a:srgbClr val="F2EFE6"/>
                </a:solidFill>
                <a:latin typeface="Source Han Serif SC"/>
                <a:ea typeface="Source Han Serif SC"/>
              </a:rPr>
              <a:t>Kairos Tide</a:t>
            </a:r>
            <a:endParaRPr lang="en-US" sz="6600" b="1" spc="15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2000" y="5743575"/>
            <a:ext cx="609600" cy="19050"/>
          </a:xfrm>
          <a:prstGeom prst="rect">
            <a:avLst/>
          </a:prstGeom>
          <a:solidFill>
            <a:srgbClr val="D9B36C"/>
          </a:solidFill>
        </p:spPr>
        <p:txBody>
          <a:bodyPr/>
          <a:p/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762000" y="5972175"/>
            <a:ext cx="7239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>
                <a:solidFill>
                  <a:srgbClr val="F2EFE6">
                    <a:alpha val="88000"/>
                  </a:srgbClr>
                </a:solidFill>
                <a:latin typeface="Source Han Sans SC"/>
                <a:ea typeface="Source Han Sans SC"/>
              </a:rPr>
              <a:t>一块不显示刻度时间的潮汐钟</a:t>
            </a:r>
            <a:r>
              <a:rPr lang="en-US" sz="2000">
                <a:solidFill>
                  <a:srgbClr val="F2EFE6">
                    <a:alpha val="88000"/>
                  </a:srgbClr>
                </a:solidFill>
                <a:latin typeface="Source Han Sans SC"/>
                <a:ea typeface="Source Han Sans SC"/>
              </a:rPr>
              <a:t> —— </a:t>
            </a:r>
            <a:r>
              <a:rPr lang="zh-CN" sz="2000">
                <a:solidFill>
                  <a:srgbClr val="F2EFE6">
                    <a:alpha val="88000"/>
                  </a:srgbClr>
                </a:solidFill>
                <a:latin typeface="Source Han Sans SC"/>
                <a:ea typeface="Source Han Sans SC"/>
              </a:rPr>
              <a:t>找回「时间之流」</a:t>
            </a:r>
            <a:endParaRPr lang="zh-CN" sz="2000">
              <a:solidFill>
                <a:srgbClr val="F2EFE6">
                  <a:alpha val="88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2000" y="4572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pc="600">
                <a:solidFill>
                  <a:srgbClr val="D9B36C"/>
                </a:solidFill>
                <a:latin typeface="Source Han Serif SC"/>
                <a:ea typeface="Source Han Serif SC"/>
              </a:rPr>
              <a:t>GK-024  你说的都队</a:t>
            </a:r>
            <a:endParaRPr lang="zh-CN" spc="600">
              <a:solidFill>
                <a:srgbClr val="D9B36C"/>
              </a:solidFill>
              <a:latin typeface="Source Han Serif SC"/>
              <a:ea typeface="Source Han Serif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 descr="&lt;Slide style={{ width: 1280, height: 720, padding: '20px 70px', background: 'linear-gradient(180deg, #0E1A24 0%, #16242F 100%)' }}&gt;&#10;  &lt;Box style={{ height: 90, justifyContent: 'flex-end', paddingBottom: 6 }}&gt;&#10;    &lt;Text style={{ fontSize: 34, fontWeight: 'bold', color: '#F2EFE6', fontFamily: &quot;'Source Han Serif SC','思源宋体',serif&quot;, letterSpacing: 2 }}&gt;手表告诉你几点，不告诉你「是什么时候」&lt;/Text&gt;&#10;  &lt;/Box&gt;&#10;  &lt;Box style={{ flex: 1, flexDirection: 'row', marginTop: 22, alignItems: 'center' }}&gt;&#10;    &lt;Box style={{ width: 600, height: 490, borderRadius: 10, overflow: 'hidden', boxShadow: '0 6px 30px rgba(0,0,0,0.35)' }}&gt;&#10;      &lt;Image src=&quot;assets/kairos_moment.png&quot; style={{ width: '100%', height: '100%', objectFit: 'cover' }} /&gt;&#10;    &lt;/Box&gt;&#10;    &lt;Box style={{ flex: 1, paddingLeft: 48, justifyContent: 'center' }}&gt;&#10;      &lt;Box&gt;&#10;        &lt;Text style={{ fontSize: 18, color: '#D9B36C', letterSpacing: 4, fontFamily: &quot;'Source Han Serif SC','思源宋体',serif&quot; }}&gt;从前&lt;/Text&gt;&#10;        &lt;Text style={{ fontSize: 25, color: '#F2EFE6', lineHeight: 1.6, marginTop: 8, fontFamily: &quot;'Source Han Sans SC','思源黑体','Microsoft YaHei',sans-serif&quot; }}&gt;人们不说「几点」，而说——&lt;br /&gt;&lt;span style={{ color: '#D9B36C' }}&gt;是播种的时候、丰收的时候、月圆的时候&lt;/span&gt;&lt;/Text&gt;&#10;      &lt;/Box&gt;&#10;      &lt;Box style={{ marginTop: 34 }}&gt;&#10;        &lt;Text style={{ fontSize: 18, color: '#D9B36C', letterSpacing: 4, fontFamily: &quot;'Source Han Serif SC','思源宋体',serif&quot; }}&gt;如今&lt;/Text&gt;&#10;        &lt;Text style={{ fontSize: 25, color: '#F2EFE6', lineHeight: 1.6, marginTop: 8, fontFamily: &quot;'Source Han Sans SC','思源黑体','Microsoft YaHei',sans-serif&quot; }}&gt;刻度化为均质的「几点几分」，&lt;br /&gt;&lt;span style={{ color: '#8FA8B8' }}&gt;标度时间替代了感受&lt;/span&gt;&lt;/Text&gt;&#10;      &lt;/Box&gt;&#10;      &lt;Box style={{ marginTop: 34, width: '100%', height: 1, background: 'rgba(143,168,184,0.25)' }} /&gt;&#10;      &lt;Text style={{ fontSize: 20, color: '#8FA8B8', lineHeight: 1.6, marginTop: 22, fontFamily: &quot;'Source Han Sans SC','思源黑体','Microsoft YaHei',sans-serif&quot; }}&gt;我们怕迟到、怕浪费、怕来不及。&lt;br /&gt;时间本是可感的&lt;span style={{ color: '#D9B36C' }}&gt;时机&lt;/span&gt;，不是被读出的数。&lt;/Text&gt;&#10;    &lt;/Box&gt;&#10;  &lt;/Box&gt;&#10;  &lt;Box style={{ height: 40, flexDirection: 'row', justifyContent: 'space-between', alignItems: 'center' }}&gt;&#10;    &lt;Text style={{ fontSize: 14, color: '#8FA8B8', opacity: 0.6, fontFamily: &quot;'Source Han Sans SC','思源黑体','Microsoft YaHei',sans-serif&quot; }}&gt;Kairos Tide · 柔性潮汐钟&lt;/Text&gt;&#10;    &lt;Text style={{ fontSize: 14, color: '#8FA8B8', opacity: 0.7, fontFamily: &quot;'Source Han Sans SC','思源黑体','Microsoft YaHei',sans-serif&quot; }}&gt;02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5080"/>
            <a:ext cx="12192000" cy="6858000"/>
          </a:xfrm>
          <a:prstGeom prst="rect">
            <a:avLst/>
          </a:prstGeom>
          <a:gradFill>
            <a:gsLst>
              <a:gs pos="0">
                <a:srgbClr val="0E1A24"/>
              </a:gs>
              <a:gs pos="100000">
                <a:srgbClr val="16242F"/>
              </a:gs>
            </a:gsLst>
            <a:lin ang="5400000" scaled="1"/>
          </a:gradFill>
        </p:spPr>
        <p:txBody>
          <a:bodyPr/>
          <a:p>
            <a:r>
              <a:rPr lang="en-US" altLang="zh-CN"/>
              <a:t>Mark Fisher – Essay ‘Tijdstrijd’ (Illustratie Wouter Medaer)</a:t>
            </a:r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666750" y="600075"/>
            <a:ext cx="1085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150">
                <a:solidFill>
                  <a:srgbClr val="F2EFE6"/>
                </a:solidFill>
                <a:latin typeface="Source Han Serif SC"/>
                <a:ea typeface="Source Han Serif SC"/>
              </a:rPr>
              <a:t>钟表告诉你几点，却</a:t>
            </a:r>
            <a:r>
              <a:rPr lang="zh-CN" sz="2550" b="1" spc="150">
                <a:solidFill>
                  <a:srgbClr val="F2EFE6"/>
                </a:solidFill>
                <a:latin typeface="Source Han Serif SC"/>
                <a:ea typeface="Source Han Serif SC"/>
              </a:rPr>
              <a:t>不知「是什么时候」</a:t>
            </a:r>
            <a:endParaRPr lang="zh-CN" sz="2550" b="1" spc="15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66750" y="1438275"/>
            <a:ext cx="5715000" cy="4667250"/>
          </a:xfrm>
          <a:prstGeom prst="roundRect">
            <a:avLst>
              <a:gd name="adj" fmla="val 2041"/>
            </a:avLst>
          </a:prstGeom>
          <a:effectLst>
            <a:outerShdw blurRad="285750" dist="5715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998855" y="1403985"/>
            <a:ext cx="4686300" cy="2095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600" spc="300">
                <a:solidFill>
                  <a:srgbClr val="D9B36C"/>
                </a:solidFill>
                <a:latin typeface="Source Han Serif SC"/>
                <a:ea typeface="Source Han Serif SC"/>
                <a:sym typeface="+mn-ea"/>
              </a:rPr>
              <a:t>如今</a:t>
            </a:r>
            <a:endParaRPr lang="zh-CN" sz="1600" spc="300">
              <a:solidFill>
                <a:srgbClr val="D9B36C"/>
              </a:solidFill>
              <a:latin typeface="Source Han Serif SC"/>
              <a:ea typeface="Source Han Serif SC"/>
              <a:sym typeface="+mn-ea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6490335" y="1403985"/>
            <a:ext cx="4686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 spc="300">
                <a:solidFill>
                  <a:srgbClr val="D9B36C"/>
                </a:solidFill>
                <a:latin typeface="Source Han Serif SC"/>
                <a:ea typeface="Source Han Serif SC"/>
              </a:rPr>
              <a:t>从前</a:t>
            </a:r>
            <a:endParaRPr lang="zh-CN" sz="1600" spc="300">
              <a:solidFill>
                <a:srgbClr val="D9B36C"/>
              </a:solidFill>
              <a:latin typeface="Source Han Serif SC"/>
              <a:ea typeface="Source Han Serif SC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6216015" y="6119495"/>
            <a:ext cx="4686300" cy="44323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 spc="300">
                <a:solidFill>
                  <a:srgbClr val="F2EFE6">
                    <a:alpha val="90000"/>
                  </a:srgbClr>
                </a:solidFill>
                <a:latin typeface="Source Han Serif SC"/>
                <a:ea typeface="Source Han Serif SC"/>
              </a:rPr>
              <a:t>时间本是可感的</a:t>
            </a:r>
            <a:r>
              <a:rPr lang="zh-CN" sz="1650" spc="300">
                <a:solidFill>
                  <a:srgbClr val="D9B36C">
                    <a:alpha val="90000"/>
                  </a:srgbClr>
                </a:solidFill>
                <a:latin typeface="Source Han Serif SC"/>
                <a:ea typeface="Source Han Serif SC"/>
              </a:rPr>
              <a:t>时机</a:t>
            </a:r>
            <a:r>
              <a:rPr lang="zh-CN" sz="1650" spc="300">
                <a:solidFill>
                  <a:srgbClr val="F2EFE6">
                    <a:alpha val="90000"/>
                  </a:srgbClr>
                </a:solidFill>
                <a:latin typeface="Source Han Serif SC"/>
                <a:ea typeface="Source Han Serif SC"/>
              </a:rPr>
              <a:t>，不是被读出的数。</a:t>
            </a:r>
            <a:endParaRPr lang="zh-CN" sz="1650" spc="300">
              <a:solidFill>
                <a:srgbClr val="F2EFE6">
                  <a:alpha val="90000"/>
                </a:srgbClr>
              </a:solidFill>
              <a:latin typeface="Source Han Serif SC"/>
              <a:ea typeface="Source Han Serif SC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666750" y="6400800"/>
            <a:ext cx="1485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Kairos Tide · </a:t>
            </a:r>
            <a:r>
              <a:rPr lang="zh-CN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柔性潮汐钟</a:t>
            </a:r>
            <a:endParaRPr lang="zh-CN" sz="1050">
              <a:solidFill>
                <a:srgbClr val="8FA8B8">
                  <a:alpha val="60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11068050" y="64008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70000"/>
                  </a:srgbClr>
                </a:solidFill>
                <a:latin typeface="Source Han Sans SC"/>
                <a:ea typeface="Source Han Sans SC"/>
              </a:rPr>
              <a:t>02 / 11</a:t>
            </a:r>
            <a:endParaRPr lang="en-US" sz="1050">
              <a:solidFill>
                <a:srgbClr val="8FA8B8">
                  <a:alpha val="70000"/>
                </a:srgbClr>
              </a:solidFill>
              <a:latin typeface="Source Han Sans SC"/>
              <a:ea typeface="Source Han Sans SC"/>
            </a:endParaRPr>
          </a:p>
        </p:txBody>
      </p:sp>
      <p:pic>
        <p:nvPicPr>
          <p:cNvPr id="10" name="图片 9" descr="Tijdstrijd"/>
          <p:cNvPicPr>
            <a:picLocks noChangeAspect="1"/>
          </p:cNvPicPr>
          <p:nvPr/>
        </p:nvPicPr>
        <p:blipFill>
          <a:blip r:embed="rId1"/>
          <a:srcRect l="4134"/>
          <a:stretch>
            <a:fillRect/>
          </a:stretch>
        </p:blipFill>
        <p:spPr>
          <a:xfrm>
            <a:off x="998855" y="1765300"/>
            <a:ext cx="4627880" cy="3951605"/>
          </a:xfrm>
          <a:prstGeom prst="rect">
            <a:avLst/>
          </a:prstGeom>
        </p:spPr>
      </p:pic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99490" y="5749925"/>
            <a:ext cx="4627245" cy="44323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60000"/>
              </a:lnSpc>
            </a:pPr>
            <a:r>
              <a:rPr lang="en-US" altLang="zh-CN" sz="900" spc="300">
                <a:solidFill>
                  <a:srgbClr val="F2EFE6">
                    <a:alpha val="90000"/>
                  </a:srgbClr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Times New Roman" panose="02020603050405020304" charset="0"/>
              </a:rPr>
              <a:t>Mark Fisher – Essay ‘Tijdstrijd’ (Illustratie </a:t>
            </a:r>
            <a:endParaRPr lang="en-US" altLang="zh-CN" sz="900" spc="300">
              <a:solidFill>
                <a:srgbClr val="F2EFE6">
                  <a:alpha val="90000"/>
                </a:srgbClr>
              </a:solidFill>
              <a:latin typeface="Source Han Serif SC Heavy" panose="02020A00000000000000" charset="-122"/>
              <a:ea typeface="Source Han Serif SC Heavy" panose="02020A00000000000000" charset="-122"/>
              <a:cs typeface="Times New Roman" panose="02020603050405020304" charset="0"/>
            </a:endParaRPr>
          </a:p>
          <a:p>
            <a:pPr algn="l">
              <a:lnSpc>
                <a:spcPct val="160000"/>
              </a:lnSpc>
            </a:pPr>
            <a:r>
              <a:rPr lang="en-US" altLang="zh-CN" sz="900" spc="300">
                <a:solidFill>
                  <a:srgbClr val="F2EFE6">
                    <a:alpha val="90000"/>
                  </a:srgbClr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Times New Roman" panose="02020603050405020304" charset="0"/>
              </a:rPr>
              <a:t>Wouter Medaer)</a:t>
            </a:r>
            <a:endParaRPr lang="en-US" altLang="zh-CN" sz="900" spc="300">
              <a:solidFill>
                <a:srgbClr val="F2EFE6">
                  <a:alpha val="90000"/>
                </a:srgbClr>
              </a:solidFill>
              <a:latin typeface="Source Han Serif SC Heavy" panose="02020A00000000000000" charset="-122"/>
              <a:ea typeface="Source Han Serif SC Heavy" panose="02020A00000000000000" charset="-122"/>
              <a:cs typeface="Times New Roman" panose="02020603050405020304" charset="0"/>
            </a:endParaRPr>
          </a:p>
        </p:txBody>
      </p:sp>
      <p:pic>
        <p:nvPicPr>
          <p:cNvPr id="13" name="图片 12"/>
          <p:cNvPicPr/>
          <p:nvPr/>
        </p:nvPicPr>
        <p:blipFill>
          <a:blip r:embed="rId2"/>
          <a:srcRect t="8169" b="7794"/>
          <a:stretch>
            <a:fillRect/>
          </a:stretch>
        </p:blipFill>
        <p:spPr>
          <a:xfrm>
            <a:off x="6490335" y="1765300"/>
            <a:ext cx="4744085" cy="3984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 descr="&lt;Slide style={{ width: 1280, height: 720, padding: '20px 70px', background: 'linear-gradient(180deg, #0E1A24 0%, #16242F 100%)' }}&gt;&#10;  &lt;Box style={{ height: 90, justifyContent: 'flex-end', paddingBottom: 6 }}&gt;&#10;    &lt;Text style={{ fontSize: 34, fontWeight: 'bold', color: '#F2EFE6', fontFamily: &quot;'Source Han Serif SC','思源宋体',serif&quot;, letterSpacing: 2 }}&gt;时间，有两个名字&lt;/Text&gt;&#10;  &lt;/Box&gt;&#10;  &lt;Box style={{ flex: 1, marginTop: 10, justifyContent: 'center' }}&gt;&#10;    &lt;Box style={{ alignItems: 'flex-start' }}&gt;&#10;      &lt;Text style={{ fontSize: 112, fontWeight: 'bold', color: '#F2EFE6', letterSpacing: 6, lineHeight: 1.05, fontFamily: &quot;'Source Han Serif SC','思源宋体',serif&quot; }}&gt;Chronos&lt;/Text&gt;&#10;      &lt;Text style={{ fontSize: 20, color: '#8FA8B8', marginTop: 10, letterSpacing: 3, fontFamily: &quot;'Source Han Sans SC','思源黑体','Microsoft YaHei',sans-serif&quot; }}&gt;标度时间 · 几点几分 · 被读出的数&lt;/Text&gt;&#10;    &lt;/Box&gt;&#10;    &lt;Box style={{ width: '100%', height: 1, background: 'linear-gradient(90deg, rgba(143,168,184,0.4) 0%, rgba(143,168,184,0.05) 100%)', marginTop: 30 }} /&gt;&#10;    &lt;Box style={{ alignItems: 'flex-end', marginTop: 30, paddingRight: 30 }}&gt;&#10;      &lt;Text style={{ fontSize: 34, color: '#D9B36C', letterSpacing: 10, opacity: 0.85, fontFamily: &quot;'Source Han Serif SC','思源宋体',serif&quot; }}&gt;Kairos&lt;/Text&gt;&#10;      &lt;Text style={{ fontSize: 18, color: '#8FA8B8', marginTop: 8, letterSpacing: 3, opacity: 0.8, fontFamily: &quot;'Source Han Sans SC','思源黑体','Microsoft YaHei',sans-serif&quot; }}&gt;时间之流 · 时机 · 被感受的时刻&lt;/Text&gt;&#10;    &lt;/Box&gt;&#10;    &lt;Text style={{ fontSize: 22, color: '#F2EFE6', opacity: 0.9, marginTop: 44, textAlign: 'center', letterSpacing: 4, fontFamily: &quot;'Source Han Serif SC','思源宋体',serif&quot; }}&gt;现代社会，Chronos 淹没了 Kairos —— &lt;span style={{ color: '#D9B36C' }}&gt;唯余刻度，丢了时机&lt;/span&gt;&lt;/Text&gt;&#10;  &lt;/Box&gt;&#10;  &lt;Box style={{ height: 40, flexDirection: 'row', justifyContent: 'space-between', alignItems: 'center' }}&gt;&#10;    &lt;Text style={{ fontSize: 14, color: '#8FA8B8', opacity: 0.6, fontFamily: &quot;'Source Han Sans SC','思源黑体','Microsoft YaHei',sans-serif&quot; }}&gt;Kairos Tide · 柔性潮汐钟&lt;/Text&gt;&#10;    &lt;Text style={{ fontSize: 14, color: '#8FA8B8', opacity: 0.7, fontFamily: &quot;'Source Han Sans SC','思源黑体','Microsoft YaHei',sans-serif&quot; }}&gt;03 / 10&lt;/Text&gt;&#10;  &lt;/Box&gt;&#10;&lt;/Slide&gt;&#10;"/>
        <p:cNvGrpSpPr/>
        <p:nvPr/>
      </p:nvGrpSpPr>
      <p:grpSpPr>
        <a:xfrm rot="0">
          <a:off x="0" y="0"/>
          <a:ext cx="0" cy="0"/>
          <a:chOff x="0" y="0"/>
          <a:chExt cx="12192000" cy="6858000"/>
        </a:xfrm>
      </p:grpSpPr>
      <p:sp>
        <p:nvSpPr>
          <p:cNvPr id="52" name="矩形 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A24"/>
              </a:gs>
              <a:gs pos="100000">
                <a:srgbClr val="16242F"/>
              </a:gs>
            </a:gsLst>
            <a:lin ang="5400000" scaled="1"/>
          </a:gradFill>
        </p:spPr>
        <p:txBody>
          <a:bodyPr wrap="none" lIns="0" tIns="0" rIns="0" bIns="0"/>
          <a:p/>
        </p:txBody>
      </p:sp>
      <p:sp>
        <p:nvSpPr>
          <p:cNvPr id="53" name="矩形 52"/>
          <p:cNvSpPr/>
          <p:nvPr/>
        </p:nvSpPr>
        <p:spPr>
          <a:xfrm>
            <a:off x="673100" y="596900"/>
            <a:ext cx="108585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p>
            <a:r>
              <a:rPr lang="zh-CN" sz="2550" b="1" spc="150">
                <a:solidFill>
                  <a:srgbClr val="F2EFE6"/>
                </a:solidFill>
                <a:latin typeface="Source Han Serif SC"/>
                <a:ea typeface="Source Han Serif SC"/>
              </a:rPr>
              <a:t>均质的一天</a:t>
            </a:r>
            <a:endParaRPr lang="zh-CN" sz="2550" b="1" spc="15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73100" y="3403600"/>
            <a:ext cx="10858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p>
            <a:r>
              <a:rPr lang="zh-CN" sz="1600" spc="100">
                <a:solidFill>
                  <a:srgbClr val="8FA8B8"/>
                </a:solidFill>
                <a:latin typeface="Source Han Sans SC"/>
                <a:ea typeface="Source Han Sans SC"/>
              </a:rPr>
              <a:t>一天被切成若干等长的均值时间段</a:t>
            </a:r>
            <a:endParaRPr lang="zh-CN" sz="1600" spc="100">
              <a:solidFill>
                <a:srgbClr val="8FA8B8"/>
              </a:solidFill>
              <a:latin typeface="Source Han Sans SC"/>
              <a:ea typeface="Source Han Sans SC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73100" y="45974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p>
            <a:r>
              <a:rPr lang="zh-CN" sz="1950" spc="300">
                <a:solidFill>
                  <a:srgbClr val="C4432B"/>
                </a:solidFill>
                <a:latin typeface="Source Han Sans SC"/>
                <a:ea typeface="Source Han Sans SC"/>
              </a:rPr>
              <a:t>怕迟到</a:t>
            </a:r>
            <a:endParaRPr lang="zh-CN" sz="1950" spc="300">
              <a:solidFill>
                <a:srgbClr val="C4432B"/>
              </a:solidFill>
              <a:latin typeface="Source Han Sans SC"/>
              <a:ea typeface="Source Han Sans SC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445000" y="45974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p>
            <a:r>
              <a:rPr lang="zh-CN" sz="1950" spc="300">
                <a:solidFill>
                  <a:srgbClr val="C4432B"/>
                </a:solidFill>
                <a:latin typeface="Source Han Sans SC"/>
                <a:ea typeface="Source Han Sans SC"/>
              </a:rPr>
              <a:t>怕浪费</a:t>
            </a:r>
            <a:endParaRPr lang="zh-CN" sz="1950" spc="300">
              <a:solidFill>
                <a:srgbClr val="C4432B"/>
              </a:solidFill>
              <a:latin typeface="Source Han Sans SC"/>
              <a:ea typeface="Source Han Sans SC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216900" y="45974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p>
            <a:r>
              <a:rPr lang="zh-CN" sz="1950" spc="300">
                <a:solidFill>
                  <a:srgbClr val="C4432B"/>
                </a:solidFill>
                <a:latin typeface="Source Han Sans SC"/>
                <a:ea typeface="Source Han Sans SC"/>
              </a:rPr>
              <a:t>怕来不及</a:t>
            </a:r>
            <a:endParaRPr lang="zh-CN" sz="1950" spc="300">
              <a:solidFill>
                <a:srgbClr val="C4432B"/>
              </a:solidFill>
              <a:latin typeface="Source Han Sans SC"/>
              <a:ea typeface="Source Han Sans SC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73100" y="5689600"/>
            <a:ext cx="10858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p>
            <a:r>
              <a:rPr lang="zh-CN" sz="1650" spc="150">
                <a:solidFill>
                  <a:srgbClr val="F2EFE6"/>
                </a:solidFill>
                <a:latin typeface="Source Han Serif SC"/>
                <a:ea typeface="Source Han Serif SC"/>
              </a:rPr>
              <a:t>忙着赶时间，却忘了</a:t>
            </a:r>
            <a:r>
              <a:rPr lang="zh-CN" sz="1650" spc="150">
                <a:solidFill>
                  <a:srgbClr val="D9B36C"/>
                </a:solidFill>
                <a:latin typeface="Source Han Serif SC"/>
                <a:ea typeface="Source Han Serif SC"/>
              </a:rPr>
              <a:t>什么是时候</a:t>
            </a:r>
            <a:r>
              <a:rPr lang="zh-CN" sz="1650" spc="150">
                <a:solidFill>
                  <a:srgbClr val="F2EFE6"/>
                </a:solidFill>
                <a:latin typeface="Source Han Serif SC"/>
                <a:ea typeface="Source Han Serif SC"/>
              </a:rPr>
              <a:t>。</a:t>
            </a:r>
            <a:endParaRPr lang="zh-CN" sz="1650" spc="15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73100" y="5461000"/>
            <a:ext cx="533400" cy="25400"/>
          </a:xfrm>
          <a:prstGeom prst="rect">
            <a:avLst/>
          </a:prstGeom>
          <a:solidFill>
            <a:srgbClr val="D9B36C"/>
          </a:solidFill>
          <a:ln>
            <a:noFill/>
          </a:ln>
        </p:spPr>
        <p:txBody>
          <a:bodyPr wrap="none" lIns="0" tIns="0" rIns="0" bIns="0"/>
          <a:p/>
        </p:txBody>
      </p:sp>
      <p:pic>
        <p:nvPicPr>
          <p:cNvPr id="61" name="图片 60"/>
          <p:cNvPicPr/>
          <p:nvPr/>
        </p:nvPicPr>
        <p:blipFill>
          <a:blip r:embed="rId1"/>
          <a:stretch>
            <a:fillRect/>
          </a:stretch>
        </p:blipFill>
        <p:spPr>
          <a:xfrm>
            <a:off x="673100" y="1793240"/>
            <a:ext cx="10858500" cy="13970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673100" y="6400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p>
            <a:r>
              <a:rPr lang="zh-CN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Kairos Tide · 柔性潮汐钟</a:t>
            </a:r>
            <a:endParaRPr lang="zh-CN" sz="1050">
              <a:solidFill>
                <a:srgbClr val="8FA8B8">
                  <a:alpha val="60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0922000" y="64008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p>
            <a:r>
              <a:rPr lang="zh-CN" sz="1050">
                <a:solidFill>
                  <a:srgbClr val="8FA8B8"/>
                </a:solidFill>
                <a:latin typeface="Source Han Sans SC"/>
                <a:ea typeface="Source Han Sans SC"/>
              </a:rPr>
              <a:t>0</a:t>
            </a:r>
            <a:r>
              <a:rPr lang="en-US" altLang="zh-CN" sz="1050">
                <a:solidFill>
                  <a:srgbClr val="8FA8B8"/>
                </a:solidFill>
                <a:latin typeface="Source Han Sans SC"/>
                <a:ea typeface="Source Han Sans SC"/>
              </a:rPr>
              <a:t>3</a:t>
            </a:r>
            <a:r>
              <a:rPr lang="zh-CN" sz="1050">
                <a:solidFill>
                  <a:srgbClr val="8FA8B8"/>
                </a:solidFill>
                <a:latin typeface="Source Han Sans SC"/>
                <a:ea typeface="Source Han Sans SC"/>
              </a:rPr>
              <a:t> / 11</a:t>
            </a:r>
            <a:endParaRPr lang="zh-CN" sz="1050">
              <a:solidFill>
                <a:srgbClr val="8FA8B8"/>
              </a:solidFill>
              <a:latin typeface="Source Han Sans SC"/>
              <a:ea typeface="Source Han Sans SC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73100" y="4381500"/>
            <a:ext cx="10858500" cy="12700"/>
          </a:xfrm>
          <a:prstGeom prst="rect">
            <a:avLst/>
          </a:prstGeom>
          <a:solidFill>
            <a:srgbClr val="8FA8B8">
              <a:alpha val="22000"/>
            </a:srgbClr>
          </a:solidFill>
          <a:ln>
            <a:noFill/>
          </a:ln>
        </p:spPr>
        <p:txBody>
          <a:bodyPr wrap="none" lIns="0" tIns="0" rIns="0" bIns="0"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 descr="&lt;Slide style={{ width: 1280, height: 720, padding: '20px 70px', background: 'linear-gradient(180deg, #0E1A24 0%, #16242F 100%)' }}&gt;&#10;  &lt;Box style={{ height: 90, justifyContent: 'flex-end', paddingBottom: 6 }}&gt;&#10;    &lt;Text style={{ fontSize: 34, fontWeight: 'bold', color: '#F2EFE6', fontFamily: &quot;'Source Han Serif SC','思源宋体',serif&quot;, letterSpacing: 2 }}&gt;时间，有两个名字&lt;/Text&gt;&#10;  &lt;/Box&gt;&#10;  &lt;Box style={{ flex: 1, marginTop: 10, justifyContent: 'center' }}&gt;&#10;    &lt;Box style={{ alignItems: 'flex-start' }}&gt;&#10;      &lt;Text style={{ fontSize: 112, fontWeight: 'bold', color: '#F2EFE6', letterSpacing: 6, lineHeight: 1.05, fontFamily: &quot;'Source Han Serif SC','思源宋体',serif&quot; }}&gt;Chronos&lt;/Text&gt;&#10;      &lt;Text style={{ fontSize: 20, color: '#8FA8B8', marginTop: 10, letterSpacing: 3, fontFamily: &quot;'Source Han Sans SC','思源黑体','Microsoft YaHei',sans-serif&quot; }}&gt;标度时间 · 几点几分 · 被读出的数&lt;/Text&gt;&#10;    &lt;/Box&gt;&#10;    &lt;Box style={{ width: '100%', height: 1, background: 'linear-gradient(90deg, rgba(143,168,184,0.4) 0%, rgba(143,168,184,0.05) 100%)', marginTop: 30 }} /&gt;&#10;    &lt;Box style={{ alignItems: 'flex-end', marginTop: 30, paddingRight: 30 }}&gt;&#10;      &lt;Text style={{ fontSize: 34, color: '#D9B36C', letterSpacing: 10, opacity: 0.85, fontFamily: &quot;'Source Han Serif SC','思源宋体',serif&quot; }}&gt;Kairos&lt;/Text&gt;&#10;      &lt;Text style={{ fontSize: 18, color: '#8FA8B8', marginTop: 8, letterSpacing: 3, opacity: 0.8, fontFamily: &quot;'Source Han Sans SC','思源黑体','Microsoft YaHei',sans-serif&quot; }}&gt;时间之流 · 时机 · 被感受的时刻&lt;/Text&gt;&#10;    &lt;/Box&gt;&#10;    &lt;Text style={{ fontSize: 22, color: '#F2EFE6', opacity: 0.9, marginTop: 44, textAlign: 'center', letterSpacing: 4, fontFamily: &quot;'Source Han Serif SC','思源宋体',serif&quot; }}&gt;现代社会，Chronos 淹没了 Kairos —— &lt;span style={{ color: '#D9B36C' }}&gt;唯余刻度，丢了时机&lt;/span&gt;&lt;/Text&gt;&#10;  &lt;/Box&gt;&#10;  &lt;Box style={{ height: 40, flexDirection: 'row', justifyContent: 'space-between', alignItems: 'center' }}&gt;&#10;    &lt;Text style={{ fontSize: 14, color: '#8FA8B8', opacity: 0.6, fontFamily: &quot;'Source Han Sans SC','思源黑体','Microsoft YaHei',sans-serif&quot; }}&gt;Kairos Tide · 柔性潮汐钟&lt;/Text&gt;&#10;    &lt;Text style={{ fontSize: 14, color: '#8FA8B8', opacity: 0.7, fontFamily: &quot;'Source Han Sans SC','思源黑体','Microsoft YaHei',sans-serif&quot; }}&gt;03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A24"/>
              </a:gs>
              <a:gs pos="100000">
                <a:srgbClr val="16242F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666750" y="600075"/>
            <a:ext cx="1085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150">
                <a:solidFill>
                  <a:srgbClr val="F2EFE6"/>
                </a:solidFill>
                <a:latin typeface="Source Han Serif SC"/>
                <a:ea typeface="Source Han Serif SC"/>
              </a:rPr>
              <a:t>时间，有两个名字</a:t>
            </a:r>
            <a:endParaRPr lang="zh-CN" sz="2550" b="1" spc="15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666750" y="1914525"/>
            <a:ext cx="5105400" cy="1352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8400" b="1" spc="450">
                <a:solidFill>
                  <a:srgbClr val="F2EFE6"/>
                </a:solidFill>
                <a:latin typeface="Source Han Serif SC"/>
                <a:ea typeface="Source Han Serif SC"/>
              </a:rPr>
              <a:t>Chronos</a:t>
            </a:r>
            <a:endParaRPr lang="en-US" sz="8400" b="1" spc="45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666750" y="3362325"/>
            <a:ext cx="33432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8FA8B8"/>
                </a:solidFill>
                <a:latin typeface="Source Han Sans SC"/>
                <a:ea typeface="Source Han Sans SC"/>
              </a:rPr>
              <a:t>标度时间</a:t>
            </a:r>
            <a:r>
              <a:rPr lang="en-US" sz="1500" spc="225">
                <a:solidFill>
                  <a:srgbClr val="8FA8B8"/>
                </a:solidFill>
                <a:latin typeface="Source Han Sans SC"/>
                <a:ea typeface="Source Han Sans SC"/>
              </a:rPr>
              <a:t> · </a:t>
            </a:r>
            <a:r>
              <a:rPr lang="zh-CN" sz="1500" spc="225">
                <a:solidFill>
                  <a:srgbClr val="8FA8B8"/>
                </a:solidFill>
                <a:latin typeface="Source Han Sans SC"/>
                <a:ea typeface="Source Han Sans SC"/>
              </a:rPr>
              <a:t>几点几分</a:t>
            </a:r>
            <a:r>
              <a:rPr lang="en-US" sz="1500" spc="225">
                <a:solidFill>
                  <a:srgbClr val="8FA8B8"/>
                </a:solidFill>
                <a:latin typeface="Source Han Sans SC"/>
                <a:ea typeface="Source Han Sans SC"/>
              </a:rPr>
              <a:t> · </a:t>
            </a:r>
            <a:r>
              <a:rPr lang="zh-CN" sz="1500" spc="225">
                <a:solidFill>
                  <a:srgbClr val="8FA8B8"/>
                </a:solidFill>
                <a:latin typeface="Source Han Sans SC"/>
                <a:ea typeface="Source Han Sans SC"/>
              </a:rPr>
              <a:t>被读出的数</a:t>
            </a:r>
            <a:endParaRPr lang="zh-CN" sz="1500" spc="225">
              <a:solidFill>
                <a:srgbClr val="8FA8B8"/>
              </a:solidFill>
              <a:latin typeface="Source Han Sans SC"/>
              <a:ea typeface="Source Han Sans SC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66750" y="3876675"/>
            <a:ext cx="10858500" cy="9525"/>
          </a:xfrm>
          <a:prstGeom prst="rect">
            <a:avLst/>
          </a:prstGeom>
          <a:gradFill>
            <a:gsLst>
              <a:gs pos="0">
                <a:srgbClr val="8FA8B8">
                  <a:alpha val="40000"/>
                </a:srgbClr>
              </a:gs>
              <a:gs pos="100000">
                <a:srgbClr val="8FA8B8">
                  <a:alpha val="5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563100" y="4171950"/>
            <a:ext cx="16764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spc="750">
                <a:solidFill>
                  <a:srgbClr val="D9B36C">
                    <a:alpha val="85000"/>
                  </a:srgbClr>
                </a:solidFill>
                <a:latin typeface="Source Han Serif SC"/>
                <a:ea typeface="Source Han Serif SC"/>
              </a:rPr>
              <a:t>Kairos</a:t>
            </a:r>
            <a:endParaRPr lang="en-US" sz="2550" spc="750">
              <a:solidFill>
                <a:srgbClr val="D9B36C">
                  <a:alpha val="85000"/>
                </a:srgbClr>
              </a:solidFill>
              <a:latin typeface="Source Han Serif SC"/>
              <a:ea typeface="Source Han Serif SC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8382000" y="4638675"/>
            <a:ext cx="2857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8FA8B8">
                    <a:alpha val="80000"/>
                  </a:srgbClr>
                </a:solidFill>
                <a:latin typeface="Source Han Sans SC"/>
                <a:ea typeface="Source Han Sans SC"/>
              </a:rPr>
              <a:t>时间之流</a:t>
            </a:r>
            <a:r>
              <a:rPr lang="en-US" sz="1350" spc="225">
                <a:solidFill>
                  <a:srgbClr val="8FA8B8">
                    <a:alpha val="80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350" spc="225">
                <a:solidFill>
                  <a:srgbClr val="8FA8B8">
                    <a:alpha val="80000"/>
                  </a:srgbClr>
                </a:solidFill>
                <a:latin typeface="Source Han Sans SC"/>
                <a:ea typeface="Source Han Sans SC"/>
              </a:rPr>
              <a:t>时机</a:t>
            </a:r>
            <a:r>
              <a:rPr lang="en-US" sz="1350" spc="225">
                <a:solidFill>
                  <a:srgbClr val="8FA8B8">
                    <a:alpha val="80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350" spc="225">
                <a:solidFill>
                  <a:srgbClr val="8FA8B8">
                    <a:alpha val="80000"/>
                  </a:srgbClr>
                </a:solidFill>
                <a:latin typeface="Source Han Sans SC"/>
                <a:ea typeface="Source Han Sans SC"/>
              </a:rPr>
              <a:t>被感受的时刻</a:t>
            </a:r>
            <a:endParaRPr lang="zh-CN" sz="1350" spc="225">
              <a:solidFill>
                <a:srgbClr val="8FA8B8">
                  <a:alpha val="80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666750" y="5267325"/>
            <a:ext cx="10858500" cy="2571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spc="300">
                <a:solidFill>
                  <a:srgbClr val="F2EFE6">
                    <a:alpha val="90000"/>
                  </a:srgbClr>
                </a:solidFill>
                <a:latin typeface="Source Han Serif SC"/>
                <a:ea typeface="Source Han Serif SC"/>
              </a:rPr>
              <a:t>现代社会，</a:t>
            </a:r>
            <a:r>
              <a:rPr lang="en-US" sz="1650" spc="300">
                <a:solidFill>
                  <a:srgbClr val="F2EFE6">
                    <a:alpha val="90000"/>
                  </a:srgbClr>
                </a:solidFill>
                <a:latin typeface="Source Han Serif SC"/>
                <a:ea typeface="Source Han Serif SC"/>
              </a:rPr>
              <a:t>Chronos </a:t>
            </a:r>
            <a:r>
              <a:rPr lang="zh-CN" sz="1650" spc="300">
                <a:solidFill>
                  <a:srgbClr val="F2EFE6">
                    <a:alpha val="90000"/>
                  </a:srgbClr>
                </a:solidFill>
                <a:latin typeface="Source Han Serif SC"/>
                <a:ea typeface="Source Han Serif SC"/>
              </a:rPr>
              <a:t>淹没了</a:t>
            </a:r>
            <a:r>
              <a:rPr lang="en-US" sz="1650" spc="300">
                <a:solidFill>
                  <a:srgbClr val="F2EFE6">
                    <a:alpha val="90000"/>
                  </a:srgbClr>
                </a:solidFill>
                <a:latin typeface="Source Han Serif SC"/>
                <a:ea typeface="Source Han Serif SC"/>
              </a:rPr>
              <a:t> Kairos —— </a:t>
            </a:r>
            <a:r>
              <a:rPr lang="zh-CN" sz="1650" spc="300">
                <a:solidFill>
                  <a:srgbClr val="D9B36C">
                    <a:alpha val="90000"/>
                  </a:srgbClr>
                </a:solidFill>
                <a:latin typeface="Source Han Serif SC"/>
                <a:ea typeface="Source Han Serif SC"/>
              </a:rPr>
              <a:t>唯余刻度，丢了时机</a:t>
            </a:r>
            <a:endParaRPr lang="zh-CN" sz="1650" spc="300">
              <a:solidFill>
                <a:srgbClr val="D9B36C">
                  <a:alpha val="90000"/>
                </a:srgbClr>
              </a:solidFill>
              <a:latin typeface="Source Han Serif SC"/>
              <a:ea typeface="Source Han Serif SC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666750" y="6400800"/>
            <a:ext cx="1485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Kairos Tide · </a:t>
            </a:r>
            <a:r>
              <a:rPr lang="zh-CN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柔性潮汐钟</a:t>
            </a:r>
            <a:endParaRPr lang="zh-CN" sz="1050">
              <a:solidFill>
                <a:srgbClr val="8FA8B8">
                  <a:alpha val="60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11068050" y="64008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70000"/>
                  </a:srgbClr>
                </a:solidFill>
                <a:latin typeface="Source Han Sans SC"/>
                <a:ea typeface="Source Han Sans SC"/>
              </a:rPr>
              <a:t>04 / 11</a:t>
            </a:r>
            <a:endParaRPr lang="en-US" sz="1050">
              <a:solidFill>
                <a:srgbClr val="8FA8B8">
                  <a:alpha val="70000"/>
                </a:srgbClr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 descr="&lt;Slide style={{ width: 1280, height: 720, padding: '20px 70px', background: 'linear-gradient(180deg, #0E1A24 0%, #16242F 100%)' }}&gt;&#10;  &lt;Box style={{ height: 90, justifyContent: 'flex-end', paddingBottom: 6, flexDirection: 'row', justifyContent: 'space-between', alignItems: 'flex-end' }}&gt;&#10;    &lt;Text style={{ fontSize: 34, fontWeight: 'bold', color: '#F2EFE6', fontFamily: &quot;'Source Han Serif SC','思源宋体',serif&quot;, letterSpacing: 2 }}&gt;恢复时间之流的可感性&lt;/Text&gt;&#10;    &lt;Text style={{ fontSize: 16, color: '#D9B36C', letterSpacing: 3, fontFamily: &quot;'Source Han Serif SC','思源宋体',serif&quot; }}&gt;没有数字 · 没有指针&lt;/Text&gt;&#10;  &lt;/Box&gt;&#10;  &lt;Box style={{ height: 330, marginTop: 22, borderRadius: 10, overflow: 'hidden', boxShadow: '0 6px 30px rgba(0,0,0,0.4)' }}&gt;&#10;    &lt;Image src=&quot;assets/interface_kairos.png&quot; style={{ width: '100%', height: '100%', objectFit: 'cover' }} /&gt;&#10;  &lt;/Box&gt;&#10;  &lt;Box style={{ flex: 1, flexDirection: 'row', marginTop: 26, alignItems: 'flex-start' }}&gt;&#10;    &lt;Box style={{ flex: 1, paddingRight: 30 }}&gt;&#10;      &lt;Box style={{ flexDirection: 'row', alignItems: 'center' }}&gt;&#10;        &lt;Box style={{ width: 12, height: 12, borderRadius: 6, background: '#8FA8B8', opacity: 0.8 }} /&gt;&#10;        &lt;Text style={{ fontSize: 24, fontWeight: 'bold', color: '#F2EFE6', marginLeft: 12, fontFamily: &quot;'Source Han Serif SC','思源宋体',serif&quot; }}&gt;天象&lt;/Text&gt;&#10;      &lt;/Box&gt;&#10;      &lt;Text style={{ fontSize: 17, color: '#8FA8B8', marginTop: 8, lineHeight: 1.5, fontFamily: &quot;'Source Han Sans SC','思源黑体','Microsoft YaHei',sans-serif&quot; }}&gt;四季与昼夜，让你感到「什么时候」&lt;/Text&gt;&#10;    &lt;/Box&gt;&#10;    &lt;Box style={{ flex: 1, paddingRight: 30 }}&gt;&#10;      &lt;Box style={{ flexDirection: 'row', alignItems: 'center' }}&gt;&#10;        &lt;Box style={{ width: 12, height: 12, borderRadius: 6, background: '#8FA8B8', opacity: 0.5 }} /&gt;&#10;        &lt;Text style={{ fontSize: 24, fontWeight: 'bold', color: '#F2EFE6', marginLeft: 12, fontFamily: &quot;'Source Han Serif SC','思源宋体',serif&quot; }}&gt;水面&lt;/Text&gt;&#10;      &lt;/Box&gt;&#10;      &lt;Text style={{ fontSize: 17, color: '#8FA8B8', marginTop: 8, lineHeight: 1.5, fontFamily: &quot;'Source Han Sans SC','思源黑体','Microsoft YaHei',sans-serif&quot; }}&gt;潮汐在呼吸，预示「时间在流」&lt;/Text&gt;&#10;    &lt;/Box&gt;&#10;    &lt;Box style={{ flex: 1 }}&gt;&#10;      &lt;Box style={{ flexDirection: 'row', alignItems: 'center' }}&gt;&#10;        &lt;Box style={{ width: 14, height: 14, borderRadius: 7, border: '2px solid #D9B36C' }} /&gt;&#10;        &lt;Box style={{ width: 14, height: 14, borderRadius: 7, border: '2px solid #C4432B', marginLeft: 6 }} /&gt;&#10;        &lt;Text style={{ fontSize: 24, fontWeight: 'bold', color: '#F2EFE6', marginLeft: 12, fontFamily: &quot;'Source Han Serif SC','思源宋体',serif&quot; }}&gt;圆圈&lt;/Text&gt;&#10;      &lt;/Box&gt;&#10;      &lt;Text style={{ fontSize: 17, color: '#8FA8B8', marginTop: 8, lineHeight: 1.5, fontFamily: &quot;'Source Han Sans SC','思源黑体','Microsoft YaHei',sans-serif&quot; }}&gt;&lt;span style={{ color: '#D9B36C' }}&gt;金色&lt;/span&gt;是重要事件，&lt;span style={{ color: '#C4432B' }}&gt;红色&lt;/span&gt;不可错过&lt;/Text&gt;&#10;    &lt;/Box&gt;&#10;  &lt;/Box&gt;&#10;  &lt;Box style={{ height: 40, flexDirection: 'row', justifyContent: 'space-between', alignItems: 'center' }}&gt;&#10;    &lt;Text style={{ fontSize: 14, color: '#8FA8B8', opacity: 0.6, fontFamily: &quot;'Source Han Sans SC','思源黑体','Microsoft YaHei',sans-serif&quot; }}&gt;Kairos Tide · 柔性潮汐钟&lt;/Text&gt;&#10;    &lt;Text style={{ fontSize: 14, color: '#8FA8B8', opacity: 0.7, fontFamily: &quot;'Source Han Sans SC','思源黑体','Microsoft YaHei',sans-serif&quot; }}&gt;04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A24"/>
              </a:gs>
              <a:gs pos="100000">
                <a:srgbClr val="16242F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66750" y="600075"/>
            <a:ext cx="34290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150">
                <a:solidFill>
                  <a:srgbClr val="F2EFE6"/>
                </a:solidFill>
                <a:latin typeface="Source Han Serif SC"/>
                <a:ea typeface="Source Han Serif SC"/>
              </a:rPr>
              <a:t>恢复时间之流的可感性</a:t>
            </a:r>
            <a:endParaRPr lang="zh-CN" sz="2550" b="1" spc="15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9867900" y="800100"/>
            <a:ext cx="1657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D9B36C"/>
                </a:solidFill>
                <a:latin typeface="Source Han Serif SC"/>
                <a:ea typeface="Source Han Serif SC"/>
              </a:rPr>
              <a:t>没有数字</a:t>
            </a:r>
            <a:r>
              <a:rPr lang="en-US" sz="1200" spc="225">
                <a:solidFill>
                  <a:srgbClr val="D9B36C"/>
                </a:solidFill>
                <a:latin typeface="Source Han Serif SC"/>
                <a:ea typeface="Source Han Serif SC"/>
              </a:rPr>
              <a:t> · </a:t>
            </a:r>
            <a:r>
              <a:rPr lang="zh-CN" sz="1200" spc="225">
                <a:solidFill>
                  <a:srgbClr val="D9B36C"/>
                </a:solidFill>
                <a:latin typeface="Source Han Serif SC"/>
                <a:ea typeface="Source Han Serif SC"/>
              </a:rPr>
              <a:t>没有指针</a:t>
            </a:r>
            <a:endParaRPr lang="zh-CN" sz="1200" spc="225">
              <a:solidFill>
                <a:srgbClr val="D9B36C"/>
              </a:solidFill>
              <a:latin typeface="Source Han Serif SC"/>
              <a:ea typeface="Source Han Serif SC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666750" y="1257300"/>
            <a:ext cx="10858500" cy="3143250"/>
          </a:xfrm>
          <a:prstGeom prst="roundRect">
            <a:avLst>
              <a:gd name="adj" fmla="val 3030"/>
            </a:avLst>
          </a:prstGeom>
          <a:effectLst>
            <a:outerShdw blurRad="285750" dist="5715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47" name="文本框 46" descr="{&quot;isTemplate&quot;:true,&quot;type&quot;:&quot;text&quot;}"/>
          <p:cNvSpPr txBox="1"/>
          <p:nvPr>
            <p:custDataLst>
              <p:tags r:id="rId1"/>
            </p:custDataLst>
          </p:nvPr>
        </p:nvSpPr>
        <p:spPr>
          <a:xfrm>
            <a:off x="895350" y="5445760"/>
            <a:ext cx="457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2EFE6"/>
                </a:solidFill>
                <a:latin typeface="Source Han Serif SC"/>
                <a:ea typeface="Source Han Serif SC"/>
              </a:rPr>
              <a:t>天象</a:t>
            </a:r>
            <a:endParaRPr lang="zh-CN" sz="1800" b="1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666750" y="5798185"/>
            <a:ext cx="3333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8FA8B8"/>
                </a:solidFill>
                <a:latin typeface="Source Han Sans SC"/>
                <a:ea typeface="Source Han Sans SC"/>
              </a:rPr>
              <a:t>四季与昼夜，让你感到「什么时候」</a:t>
            </a:r>
            <a:endParaRPr lang="zh-CN" sz="1275">
              <a:solidFill>
                <a:srgbClr val="8FA8B8"/>
              </a:solidFill>
              <a:latin typeface="Source Han Sans SC"/>
              <a:ea typeface="Source Han Sans SC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4514850" y="5445760"/>
            <a:ext cx="457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2EFE6"/>
                </a:solidFill>
                <a:latin typeface="Source Han Serif SC"/>
                <a:ea typeface="Source Han Serif SC"/>
              </a:rPr>
              <a:t>水面</a:t>
            </a:r>
            <a:endParaRPr lang="zh-CN" sz="1800" b="1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50" name="文本框 49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4286250" y="5798185"/>
            <a:ext cx="3333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8FA8B8"/>
                </a:solidFill>
                <a:latin typeface="Source Han Sans SC"/>
                <a:ea typeface="Source Han Sans SC"/>
              </a:rPr>
              <a:t>潮汐在呼吸，预示「时间在流」</a:t>
            </a:r>
            <a:endParaRPr lang="zh-CN" sz="1275">
              <a:solidFill>
                <a:srgbClr val="8FA8B8"/>
              </a:solidFill>
              <a:latin typeface="Source Han Sans SC"/>
              <a:ea typeface="Source Han Sans SC"/>
            </a:endParaRPr>
          </a:p>
        </p:txBody>
      </p:sp>
      <p:sp>
        <p:nvSpPr>
          <p:cNvPr id="51" name="圆角矩形 50"/>
          <p:cNvSpPr/>
          <p:nvPr>
            <p:custDataLst>
              <p:tags r:id="rId5"/>
            </p:custDataLst>
          </p:nvPr>
        </p:nvSpPr>
        <p:spPr>
          <a:xfrm>
            <a:off x="7905750" y="5521960"/>
            <a:ext cx="133350" cy="133350"/>
          </a:xfrm>
          <a:prstGeom prst="roundRect">
            <a:avLst>
              <a:gd name="adj" fmla="val 50000"/>
            </a:avLst>
          </a:prstGeom>
          <a:ln w="25400">
            <a:solidFill>
              <a:srgbClr val="D9B36C"/>
            </a:solidFill>
            <a:prstDash val="solid"/>
          </a:ln>
        </p:spPr>
        <p:txBody>
          <a:bodyPr/>
          <a:p/>
        </p:txBody>
      </p:sp>
      <p:sp>
        <p:nvSpPr>
          <p:cNvPr id="52" name="圆角矩形 51"/>
          <p:cNvSpPr/>
          <p:nvPr>
            <p:custDataLst>
              <p:tags r:id="rId6"/>
            </p:custDataLst>
          </p:nvPr>
        </p:nvSpPr>
        <p:spPr>
          <a:xfrm>
            <a:off x="8039100" y="5521960"/>
            <a:ext cx="133350" cy="133350"/>
          </a:xfrm>
          <a:prstGeom prst="roundRect">
            <a:avLst>
              <a:gd name="adj" fmla="val 50000"/>
            </a:avLst>
          </a:prstGeom>
          <a:ln w="25400">
            <a:solidFill>
              <a:srgbClr val="C4432B"/>
            </a:solidFill>
            <a:prstDash val="solid"/>
          </a:ln>
        </p:spPr>
        <p:txBody>
          <a:bodyPr/>
          <a:p/>
        </p:txBody>
      </p:sp>
      <p:sp>
        <p:nvSpPr>
          <p:cNvPr id="53" name="文本框 52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8343900" y="5445760"/>
            <a:ext cx="457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2EFE6"/>
                </a:solidFill>
                <a:latin typeface="Source Han Serif SC"/>
                <a:ea typeface="Source Han Serif SC"/>
              </a:rPr>
              <a:t>圆圈</a:t>
            </a:r>
            <a:endParaRPr lang="zh-CN" sz="1800" b="1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54" name="文本框 53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7905750" y="5798185"/>
            <a:ext cx="3619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D9B36C"/>
                </a:solidFill>
                <a:latin typeface="Source Han Sans SC"/>
                <a:ea typeface="Source Han Sans SC"/>
              </a:rPr>
              <a:t>金色</a:t>
            </a:r>
            <a:r>
              <a:rPr lang="zh-CN" sz="1275">
                <a:solidFill>
                  <a:srgbClr val="8FA8B8"/>
                </a:solidFill>
                <a:latin typeface="Source Han Sans SC"/>
                <a:ea typeface="Source Han Sans SC"/>
              </a:rPr>
              <a:t>是激励事件，</a:t>
            </a:r>
            <a:r>
              <a:rPr lang="zh-CN" sz="1275" b="1">
                <a:solidFill>
                  <a:schemeClr val="accent1">
                    <a:lumMod val="60000"/>
                    <a:lumOff val="40000"/>
                  </a:schemeClr>
                </a:solidFill>
                <a:latin typeface="Source Han Sans SC"/>
                <a:ea typeface="Source Han Sans SC"/>
              </a:rPr>
              <a:t>蓝色</a:t>
            </a:r>
            <a:r>
              <a:rPr lang="zh-CN" sz="1275">
                <a:solidFill>
                  <a:srgbClr val="8FA8B8"/>
                </a:solidFill>
                <a:latin typeface="Source Han Sans SC"/>
                <a:ea typeface="Source Han Sans SC"/>
              </a:rPr>
              <a:t>是任务事件，</a:t>
            </a:r>
            <a:r>
              <a:rPr lang="zh-CN" sz="1275">
                <a:solidFill>
                  <a:srgbClr val="C4432B"/>
                </a:solidFill>
                <a:latin typeface="Source Han Sans SC"/>
                <a:ea typeface="Source Han Sans SC"/>
              </a:rPr>
              <a:t>红色</a:t>
            </a:r>
            <a:r>
              <a:rPr lang="zh-CN" sz="1275">
                <a:solidFill>
                  <a:srgbClr val="8FA8B8"/>
                </a:solidFill>
                <a:latin typeface="Source Han Sans SC"/>
                <a:ea typeface="Source Han Sans SC"/>
              </a:rPr>
              <a:t>不可错过</a:t>
            </a:r>
            <a:endParaRPr lang="zh-CN" sz="1275">
              <a:solidFill>
                <a:srgbClr val="8FA8B8"/>
              </a:solidFill>
              <a:latin typeface="Source Han Sans SC"/>
              <a:ea typeface="Source Han Sans SC"/>
            </a:endParaRPr>
          </a:p>
        </p:txBody>
      </p:sp>
      <p:sp>
        <p:nvSpPr>
          <p:cNvPr id="55" name="圆角矩形 54"/>
          <p:cNvSpPr/>
          <p:nvPr>
            <p:custDataLst>
              <p:tags r:id="rId9"/>
            </p:custDataLst>
          </p:nvPr>
        </p:nvSpPr>
        <p:spPr>
          <a:xfrm>
            <a:off x="666750" y="553148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8FA8B8">
              <a:alpha val="80000"/>
            </a:srgbClr>
          </a:solidFill>
        </p:spPr>
        <p:txBody>
          <a:bodyPr/>
          <a:p/>
        </p:txBody>
      </p:sp>
      <p:sp>
        <p:nvSpPr>
          <p:cNvPr id="56" name="圆角矩形 55"/>
          <p:cNvSpPr/>
          <p:nvPr>
            <p:custDataLst>
              <p:tags r:id="rId10"/>
            </p:custDataLst>
          </p:nvPr>
        </p:nvSpPr>
        <p:spPr>
          <a:xfrm>
            <a:off x="4286250" y="553148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8FA8B8">
              <a:alpha val="50000"/>
            </a:srgbClr>
          </a:solidFill>
        </p:spPr>
        <p:txBody>
          <a:bodyPr/>
          <a:p/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666750" y="6400800"/>
            <a:ext cx="1485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Kairos Tide · </a:t>
            </a:r>
            <a:r>
              <a:rPr lang="zh-CN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柔性潮汐钟</a:t>
            </a:r>
            <a:endParaRPr lang="zh-CN" sz="1050">
              <a:solidFill>
                <a:srgbClr val="8FA8B8">
                  <a:alpha val="60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11068050" y="64008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70000"/>
                  </a:srgbClr>
                </a:solidFill>
                <a:latin typeface="Source Han Sans SC"/>
                <a:ea typeface="Source Han Sans SC"/>
              </a:rPr>
              <a:t>05 / 11</a:t>
            </a:r>
            <a:endParaRPr lang="en-US" sz="1050">
              <a:solidFill>
                <a:srgbClr val="8FA8B8">
                  <a:alpha val="70000"/>
                </a:srgbClr>
              </a:solidFill>
              <a:latin typeface="Source Han Sans SC"/>
              <a:ea typeface="Source Han Sans SC"/>
            </a:endParaRPr>
          </a:p>
        </p:txBody>
      </p:sp>
      <p:pic>
        <p:nvPicPr>
          <p:cNvPr id="7" name="KairosTide演示视频">
            <a:hlinkClick r:id="" action="ppaction://media"/>
          </p:cNvPr>
          <p:cNvPicPr/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2023110" y="1177925"/>
            <a:ext cx="7652385" cy="4192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 descr="&lt;Slide style={{ width: 1280, height: 720, padding: '20px 70px', background: 'linear-gradient(180deg, #0E1A24 0%, #16242F 100%)' }}&gt;&#10;  &lt;Box style={{ height: 90, justifyContent: 'flex-end', paddingBottom: 6 }}&gt;&#10;    &lt;Text style={{ fontSize: 34, fontWeight: 'bold', color: '#F2EFE6', fontFamily: &quot;'Source Han Serif SC','思源宋体',serif&quot;, letterSpacing: 2 }}&gt;演示：长按问时 · 短按放事件&lt;/Text&gt;&#10;  &lt;/Box&gt;&#10;  &lt;Box style={{ flex: 1, flexDirection: 'row', marginTop: 22 }}&gt;&#10;    &lt;Box style={{ width: 380, justifyContent: 'center', paddingRight: 40 }}&gt;&#10;      &lt;Box&gt;&#10;        &lt;Text style={{ fontSize: 27, fontWeight: 'bold', color: '#D9B36C', fontFamily: &quot;'Source Han Serif SC','思源宋体',serif&quot;, letterSpacing: 2 }}&gt;长按 · 是问时&lt;/Text&gt;&#10;        &lt;Text style={{ fontSize: 19, color: '#F2EFE6', opacity: 0.85, marginTop: 8, fontFamily: &quot;'Source Han Sans SC','思源黑体','Microsoft YaHei',sans-serif&quot; }}&gt;数字出现，又走了&lt;/Text&gt;&#10;      &lt;/Box&gt;&#10;      &lt;Box style={{ marginTop: 40 }}&gt;&#10;        &lt;Text style={{ fontSize: 27, fontWeight: 'bold', color: '#D9B36C', fontFamily: &quot;'Source Han Serif SC','思源宋体',serif&quot;, letterSpacing: 2 }}&gt;短按 · 放一个事件&lt;/Text&gt;&#10;        &lt;Text style={{ fontSize: 19, color: '#F2EFE6', opacity: 0.85, marginTop: 8, lineHeight: 1.6, fontFamily: &quot;'Source Han Sans SC','思源黑体','Microsoft YaHei',sans-serif&quot; }}&gt;一个圆圈正在漂来——&lt;br /&gt;经过，沉底，涟漪散开&lt;/Text&gt;&#10;      &lt;/Box&gt;&#10;      &lt;Box style={{ marginTop: 40, width: '100%', height: 1, background: 'rgba(143,168,184,0.25)' }} /&gt;&#10;      &lt;Text style={{ fontSize: 17, color: '#8FA8B8', marginTop: 20, lineHeight: 1.6, fontFamily: &quot;'Source Han Sans SC','思源黑体','Microsoft YaHei',sans-serif&quot; }}&gt;它允许我们错过——&lt;br /&gt;有些事情，只是过去了&lt;/Text&gt;&#10;    &lt;/Box&gt;&#10;    &lt;Box style={{ flex: 1, border: '2px dashed rgba(143,168,184,0.45)', borderRadius: 12, justifyContent: 'center', alignItems: 'center', background: 'rgba(143,168,184,0.05)' }}&gt;&#10;      &lt;svg width={64} height={64} viewBox=&quot;0 0 64 64&quot;&gt;&#10;        &lt;circle cx=&quot;32&quot; cy=&quot;32&quot; r=&quot;26&quot; fill=&quot;none&quot; stroke=&quot;#8FA8B8&quot; strokeWidth=&quot;1.5&quot; opacity=&quot;0.6&quot; /&gt;&#10;        &lt;circle cx=&quot;32&quot; cy=&quot;32&quot; r=&quot;17&quot; fill=&quot;none&quot; stroke=&quot;#D9B36C&quot; strokeWidth=&quot;1.5&quot; opacity=&quot;0.7&quot; /&gt;&#10;      &lt;/svg&gt;&#10;      &lt;Text style={{ fontSize: 22, color: '#8FA8B8', marginTop: 18, letterSpacing: 4, fontFamily: &quot;'Source Han Sans SC','思源黑体','Microsoft YaHei',sans-serif&quot; }}&gt;演示截图占位&lt;/Text&gt;&#10;      &lt;Text style={{ fontSize: 14, color: '#8FA8B8', opacity: 0.6, marginTop: 10, fontFamily: &quot;'Source Han Sans SC','思源黑体','Microsoft YaHei',sans-serif&quot; }}&gt;请替换为真实演示画面 / 录屏截图&lt;/Text&gt;&#10;    &lt;/Box&gt;&#10;  &lt;/Box&gt;&#10;  &lt;Box style={{ height: 40, flexDirection: 'row', justifyContent: 'space-between', alignItems: 'center' }}&gt;&#10;    &lt;Text style={{ fontSize: 14, color: '#8FA8B8', opacity: 0.6, fontFamily: &quot;'Source Han Sans SC','思源黑体','Microsoft YaHei',sans-serif&quot; }}&gt;Kairos Tide · 柔性潮汐钟&lt;/Text&gt;&#10;    &lt;Text style={{ fontSize: 14, color: '#8FA8B8', opacity: 0.7, fontFamily: &quot;'Source Han Sans SC','思源黑体','Microsoft YaHei',sans-serif&quot; }}&gt;05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A24"/>
              </a:gs>
              <a:gs pos="100000">
                <a:srgbClr val="16242F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666750" y="600075"/>
            <a:ext cx="1085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150">
                <a:solidFill>
                  <a:srgbClr val="F2EFE6"/>
                </a:solidFill>
                <a:latin typeface="Source Han Serif SC"/>
                <a:ea typeface="Source Han Serif SC"/>
              </a:rPr>
              <a:t>演示</a:t>
            </a:r>
            <a:endParaRPr lang="zh-CN" sz="2550" b="1" spc="15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666750" y="2133600"/>
            <a:ext cx="32385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 spc="150">
                <a:solidFill>
                  <a:srgbClr val="D9B36C"/>
                </a:solidFill>
                <a:latin typeface="Source Han Serif SC"/>
                <a:ea typeface="Source Han Serif SC"/>
              </a:rPr>
              <a:t>长按</a:t>
            </a:r>
            <a:r>
              <a:rPr lang="en-US" sz="2025" b="1" spc="150">
                <a:solidFill>
                  <a:srgbClr val="D9B36C"/>
                </a:solidFill>
                <a:latin typeface="Source Han Serif SC"/>
                <a:ea typeface="Source Han Serif SC"/>
              </a:rPr>
              <a:t> · </a:t>
            </a:r>
            <a:r>
              <a:rPr lang="zh-CN" sz="2025" b="1" spc="150">
                <a:solidFill>
                  <a:srgbClr val="D9B36C"/>
                </a:solidFill>
                <a:latin typeface="Source Han Serif SC"/>
                <a:ea typeface="Source Han Serif SC"/>
              </a:rPr>
              <a:t>问时</a:t>
            </a:r>
            <a:endParaRPr lang="zh-CN" sz="2025" b="1" spc="150">
              <a:solidFill>
                <a:srgbClr val="D9B36C"/>
              </a:solidFill>
              <a:latin typeface="Source Han Serif SC"/>
              <a:ea typeface="Source Han Serif SC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666750" y="3124200"/>
            <a:ext cx="32385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 spc="150">
                <a:solidFill>
                  <a:srgbClr val="D9B36C"/>
                </a:solidFill>
                <a:latin typeface="Source Han Serif SC"/>
                <a:ea typeface="Source Han Serif SC"/>
              </a:rPr>
              <a:t>短按</a:t>
            </a:r>
            <a:r>
              <a:rPr lang="en-US" sz="2025" b="1" spc="150">
                <a:solidFill>
                  <a:srgbClr val="D9B36C"/>
                </a:solidFill>
                <a:latin typeface="Source Han Serif SC"/>
                <a:ea typeface="Source Han Serif SC"/>
              </a:rPr>
              <a:t> · </a:t>
            </a:r>
            <a:r>
              <a:rPr lang="zh-CN" sz="2025" b="1" spc="150">
                <a:solidFill>
                  <a:srgbClr val="D9B36C"/>
                </a:solidFill>
                <a:latin typeface="Source Han Serif SC"/>
                <a:ea typeface="Source Han Serif SC"/>
              </a:rPr>
              <a:t>放事件</a:t>
            </a:r>
            <a:endParaRPr lang="zh-CN" sz="2025" b="1" spc="150">
              <a:solidFill>
                <a:srgbClr val="D9B36C"/>
              </a:solidFill>
              <a:latin typeface="Source Han Serif SC"/>
              <a:ea typeface="Source Han Serif SC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66750" y="4591050"/>
            <a:ext cx="3238500" cy="9525"/>
          </a:xfrm>
          <a:prstGeom prst="rect">
            <a:avLst/>
          </a:prstGeom>
          <a:solidFill>
            <a:srgbClr val="8FA8B8">
              <a:alpha val="25000"/>
            </a:srgbClr>
          </a:solidFill>
        </p:spPr>
        <p:txBody>
          <a:bodyPr/>
          <a:p/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666750" y="4791075"/>
            <a:ext cx="3238500" cy="628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8FA8B8"/>
                </a:solidFill>
                <a:latin typeface="Source Han Sans SC"/>
                <a:ea typeface="Source Han Sans SC"/>
              </a:rPr>
              <a:t>它允许我们错过——</a:t>
            </a:r>
            <a:endParaRPr lang="zh-CN" sz="1275">
              <a:solidFill>
                <a:srgbClr val="8FA8B8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8FA8B8"/>
                </a:solidFill>
                <a:latin typeface="Source Han Sans SC"/>
                <a:ea typeface="Source Han Sans SC"/>
              </a:rPr>
              <a:t>有些事情，只是过去了</a:t>
            </a:r>
            <a:endParaRPr lang="zh-CN" sz="1275">
              <a:solidFill>
                <a:srgbClr val="8FA8B8"/>
              </a:solidFill>
              <a:latin typeface="Source Han Sans SC"/>
              <a:ea typeface="Source Han Sans SC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4286250" y="1257300"/>
            <a:ext cx="7239000" cy="5029200"/>
          </a:xfrm>
          <a:prstGeom prst="roundRect">
            <a:avLst>
              <a:gd name="adj" fmla="val 2273"/>
            </a:avLst>
          </a:prstGeom>
          <a:solidFill>
            <a:srgbClr val="8FA8B8">
              <a:alpha val="5000"/>
            </a:srgbClr>
          </a:solidFill>
          <a:ln w="25400">
            <a:solidFill>
              <a:srgbClr val="8FA8B8">
                <a:alpha val="45000"/>
              </a:srgbClr>
            </a:solidFill>
            <a:prstDash val="dash"/>
          </a:ln>
        </p:spPr>
        <p:txBody>
          <a:bodyPr/>
          <a:p/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00950" y="3124200"/>
            <a:ext cx="609600" cy="609600"/>
          </a:xfrm>
          <a:prstGeom prst="rect">
            <a:avLst/>
          </a:prstGeom>
        </p:spPr>
      </p:pic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7162800" y="3905250"/>
            <a:ext cx="1485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300">
                <a:solidFill>
                  <a:srgbClr val="8FA8B8"/>
                </a:solidFill>
                <a:latin typeface="Source Han Sans SC"/>
                <a:ea typeface="Source Han Sans SC"/>
              </a:rPr>
              <a:t>演示截图占位</a:t>
            </a:r>
            <a:endParaRPr lang="zh-CN" sz="1650" spc="300">
              <a:solidFill>
                <a:srgbClr val="8FA8B8"/>
              </a:solidFill>
              <a:latin typeface="Source Han Sans SC"/>
              <a:ea typeface="Source Han Sans SC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66750" y="2524125"/>
            <a:ext cx="3238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2EFE6">
                    <a:alpha val="85000"/>
                  </a:srgbClr>
                </a:solidFill>
                <a:latin typeface="Source Han Sans SC"/>
                <a:ea typeface="Source Han Sans SC"/>
              </a:rPr>
              <a:t>数字出现，又走了</a:t>
            </a:r>
            <a:endParaRPr lang="zh-CN" sz="1425">
              <a:solidFill>
                <a:srgbClr val="F2EFE6">
                  <a:alpha val="8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666750" y="3514725"/>
            <a:ext cx="3238500" cy="695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2EFE6">
                    <a:alpha val="85000"/>
                  </a:srgbClr>
                </a:solidFill>
                <a:latin typeface="Source Han Sans SC"/>
                <a:ea typeface="Source Han Sans SC"/>
              </a:rPr>
              <a:t>颜色和形状区分不同类型</a:t>
            </a:r>
            <a:r>
              <a:rPr lang="zh-CN" sz="1425">
                <a:solidFill>
                  <a:srgbClr val="F2EFE6">
                    <a:alpha val="85000"/>
                  </a:srgbClr>
                </a:solidFill>
                <a:latin typeface="Source Han Sans SC"/>
                <a:ea typeface="Source Han Sans SC"/>
              </a:rPr>
              <a:t>事件</a:t>
            </a:r>
            <a:endParaRPr lang="zh-CN" sz="1425">
              <a:solidFill>
                <a:srgbClr val="F2EFE6">
                  <a:alpha val="85000"/>
                </a:srgbClr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endParaRPr lang="zh-CN" sz="1425">
              <a:solidFill>
                <a:srgbClr val="F2EFE6">
                  <a:alpha val="85000"/>
                </a:srgbClr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endParaRPr lang="zh-CN" sz="1425">
              <a:solidFill>
                <a:srgbClr val="F2EFE6">
                  <a:alpha val="8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6905625" y="4257675"/>
            <a:ext cx="2009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请替换为真实演示画面</a:t>
            </a:r>
            <a:r>
              <a:rPr lang="en-US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 / </a:t>
            </a:r>
            <a:r>
              <a:rPr lang="zh-CN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录屏截图</a:t>
            </a:r>
            <a:endParaRPr lang="zh-CN" sz="1050">
              <a:solidFill>
                <a:srgbClr val="8FA8B8">
                  <a:alpha val="60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666750" y="6400800"/>
            <a:ext cx="1485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Kairos Tide · </a:t>
            </a:r>
            <a:r>
              <a:rPr lang="zh-CN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柔性潮汐钟</a:t>
            </a:r>
            <a:endParaRPr lang="zh-CN" sz="1050">
              <a:solidFill>
                <a:srgbClr val="8FA8B8">
                  <a:alpha val="60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11068050" y="64008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70000"/>
                  </a:srgbClr>
                </a:solidFill>
                <a:latin typeface="Source Han Sans SC"/>
                <a:ea typeface="Source Han Sans SC"/>
              </a:rPr>
              <a:t>06 / 11</a:t>
            </a:r>
            <a:endParaRPr lang="en-US" sz="1050">
              <a:solidFill>
                <a:srgbClr val="8FA8B8">
                  <a:alpha val="70000"/>
                </a:srgbClr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 descr="&lt;Slide style={{ width: 1280, height: 720, padding: '20px 70px', background: 'linear-gradient(180deg, #0E1A24 0%, #16242F 100%)' }}&gt;&#10;  &lt;Box style={{ height: 90, justifyContent: 'flex-end', paddingBottom: 6 }}&gt;&#10;    &lt;Text style={{ fontSize: 34, fontWeight: 'bold', color: '#F2EFE6', fontFamily: &quot;'Source Han Serif SC','思源宋体',serif&quot;, letterSpacing: 2 }}&gt;光谱的另一端&lt;/Text&gt;&#10;  &lt;/Box&gt;&#10;  &lt;Box style={{ flex: 1, marginTop: 16, justifyContent: 'center' }}&gt;&#10;    &lt;svg width={1140} height={300} viewBox=&quot;0 0 1140 300&quot;&gt;&#10;      &lt;defs&gt;&#10;        &lt;linearGradient id=&quot;axisGrad&quot; x1=&quot;0&quot; y1=&quot;0&quot; x2=&quot;1&quot; y2=&quot;0&quot;&gt;&#10;          &lt;stop offset=&quot;0%&quot; stopColor=&quot;#D9B36C&quot; /&gt;&#10;          &lt;stop offset=&quot;100%&quot; stopColor=&quot;#8FA8B8&quot; /&gt;&#10;        &lt;/linearGradient&gt;&#10;      &lt;/defs&gt;&#10;      &lt;line x1=&quot;90&quot; y1=&quot;160&quot; x2=&quot;1050&quot; y2=&quot;160&quot; stroke=&quot;url(#axisGrad)&quot; strokeWidth=&quot;2.5&quot; opacity=&quot;0.85&quot; /&gt;&#10;      &lt;circle cx=&quot;90&quot; cy=&quot;160&quot; r=&quot;26&quot; fill=&quot;none&quot; stroke=&quot;#D9B36C&quot; strokeWidth=&quot;1.5&quot; opacity=&quot;0.35&quot; /&gt;&#10;      &lt;circle cx=&quot;90&quot; cy=&quot;160&quot; r=&quot;16&quot; fill=&quot;none&quot; stroke=&quot;#D9B36C&quot; strokeWidth=&quot;3&quot; /&gt;&#10;      &lt;circle cx=&quot;470&quot; cy=&quot;160&quot; r=&quot;6&quot; fill=&quot;#8FA8B8&quot; opacity=&quot;0.9&quot; /&gt;&#10;      &lt;circle cx=&quot;640&quot; cy=&quot;160&quot; r=&quot;6&quot; fill=&quot;#8FA8B8&quot; opacity=&quot;0.9&quot; /&gt;&#10;      &lt;circle cx=&quot;810&quot; cy=&quot;160&quot; r=&quot;6&quot; fill=&quot;#8FA8B8&quot; opacity=&quot;0.9&quot; /&gt;&#10;      &lt;circle cx=&quot;980&quot; cy=&quot;160&quot; r=&quot;6&quot; fill=&quot;#8FA8B8&quot; opacity=&quot;0.9&quot; /&gt;&#10;      &lt;text x=&quot;470&quot; y=&quot;118&quot; textAnchor=&quot;middle&quot; fill=&quot;#8FA8B8&quot; fontSize=&quot;17&quot; fontFamily=&quot;Source Han Sans SC, Microsoft YaHei, sans-serif&quot;&gt;Forest&lt;/text&gt;&#10;      &lt;text x=&quot;640&quot; y=&quot;118&quot; textAnchor=&quot;middle&quot; fill=&quot;#8FA8B8&quot; fontSize=&quot;17&quot; fontFamily=&quot;Source Han Sans SC, Microsoft YaHei, sans-serif&quot;&gt;番茄ToDo&lt;/text&gt;&#10;      &lt;text x=&quot;810&quot; y=&quot;118&quot; textAnchor=&quot;middle&quot; fill=&quot;#8FA8B8&quot; fontSize=&quot;17&quot; fontFamily=&quot;Source Han Sans SC, Microsoft YaHei, sans-serif&quot;&gt;指尖时光&lt;/text&gt;&#10;      &lt;text x=&quot;980&quot; y=&quot;118&quot; textAnchor=&quot;middle&quot; fill=&quot;#8FA8B8&quot; fontSize=&quot;17&quot; fontFamily=&quot;Source Han Sans SC, Microsoft YaHei, sans-serif&quot;&gt;FliTik 翻页时钟&lt;/text&gt;&#10;      &lt;text x=&quot;90&quot; y=&quot;228&quot; textAnchor=&quot;middle&quot; fill=&quot;#D9B36C&quot; fontSize=&quot;19&quot; fontFamily=&quot;Source Han Serif SC, SimSun, serif&quot;&gt;Kairos Tide&lt;/text&gt;&#10;      &lt;text x=&quot;90&quot; y=&quot;262&quot; textAnchor=&quot;middle&quot; fill=&quot;#8FA8B8&quot; fontSize=&quot;15&quot; opacity=&quot;0.85&quot; fontFamily=&quot;Source Han Sans SC, Microsoft YaHei, sans-serif&quot;&gt;让时机更可感&lt;/text&gt;&#10;      &lt;text x=&quot;1050&quot; y=&quot;228&quot; textAnchor=&quot;middle&quot; fill=&quot;#8FA8B8&quot; fontSize=&quot;15&quot; opacity=&quot;0.85&quot; fontFamily=&quot;Source Han Sans SC, Microsoft YaHei, sans-serif&quot;&gt;管理时间 · 精确控制&lt;/text&gt;&#10;    &lt;/svg&gt;&#10;    &lt;Box style={{ width: '100%', height: 1, background: 'rgba(143,168,184,0.2)', marginTop: 8 }} /&gt;&#10;    &lt;Text style={{ fontSize: 20, color: '#F2EFE6', opacity: 0.9, marginTop: 22, textAlign: 'center', lineHeight: 1.6, fontFamily: &quot;'Source Han Serif SC','思源宋体',serif&quot; }}&gt;市面上的产品都在「管理时间」；Kairos Tide 在光谱的另一端——&lt;br /&gt;&lt;span style={{ color: '#D9B36C' }}&gt;只标记少数「不能错过」，其余的，允许它们漂过&lt;/span&gt;&lt;/Text&gt;&#10;  &lt;/Box&gt;&#10;  &lt;Box style={{ height: 40, flexDirection: 'row', justifyContent: 'space-between', alignItems: 'center' }}&gt;&#10;    &lt;Text style={{ fontSize: 14, color: '#8FA8B8', opacity: 0.6, fontFamily: &quot;'Source Han Sans SC','思源黑体','Microsoft YaHei',sans-serif&quot; }}&gt;Kairos Tide · 柔性潮汐钟&lt;/Text&gt;&#10;    &lt;Text style={{ fontSize: 14, color: '#8FA8B8', opacity: 0.7, fontFamily: &quot;'Source Han Sans SC','思源黑体','Microsoft YaHei',sans-serif&quot; }}&gt;06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A24"/>
              </a:gs>
              <a:gs pos="100000">
                <a:srgbClr val="16242F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666750" y="600075"/>
            <a:ext cx="1085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150">
                <a:solidFill>
                  <a:srgbClr val="F2EFE6"/>
                </a:solidFill>
                <a:latin typeface="Source Han Serif SC"/>
                <a:ea typeface="Source Han Serif SC"/>
              </a:rPr>
              <a:t>光谱的另一端</a:t>
            </a:r>
            <a:endParaRPr lang="zh-CN" sz="2550" b="1" spc="15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750" y="1806575"/>
            <a:ext cx="10858500" cy="2851150"/>
          </a:xfrm>
          <a:prstGeom prst="rect">
            <a:avLst/>
          </a:prstGeom>
        </p:spPr>
      </p:pic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666750" y="5513070"/>
            <a:ext cx="10858500" cy="7334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F2EFE6">
                    <a:alpha val="90000"/>
                  </a:srgbClr>
                </a:solidFill>
                <a:latin typeface="Source Han Serif SC"/>
                <a:ea typeface="Source Han Serif SC"/>
              </a:rPr>
              <a:t>市面上的产品都在「管理时间」；</a:t>
            </a:r>
            <a:r>
              <a:rPr lang="en-US" sz="1500">
                <a:solidFill>
                  <a:srgbClr val="F2EFE6">
                    <a:alpha val="90000"/>
                  </a:srgbClr>
                </a:solidFill>
                <a:latin typeface="Source Han Serif SC"/>
                <a:ea typeface="Source Han Serif SC"/>
              </a:rPr>
              <a:t>Kairos Tide </a:t>
            </a:r>
            <a:r>
              <a:rPr lang="zh-CN" sz="1500">
                <a:solidFill>
                  <a:srgbClr val="F2EFE6">
                    <a:alpha val="90000"/>
                  </a:srgbClr>
                </a:solidFill>
                <a:latin typeface="Source Han Serif SC"/>
                <a:ea typeface="Source Han Serif SC"/>
              </a:rPr>
              <a:t>在光谱的另一端——</a:t>
            </a:r>
            <a:endParaRPr lang="zh-CN" sz="1500">
              <a:solidFill>
                <a:srgbClr val="F2EFE6">
                  <a:alpha val="90000"/>
                </a:srgbClr>
              </a:solidFill>
              <a:latin typeface="Source Han Serif SC"/>
              <a:ea typeface="Source Han Serif SC"/>
            </a:endParaRPr>
          </a:p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D9B36C">
                    <a:alpha val="90000"/>
                  </a:srgbClr>
                </a:solidFill>
                <a:latin typeface="Source Han Serif SC"/>
                <a:ea typeface="Source Han Serif SC"/>
              </a:rPr>
              <a:t>只</a:t>
            </a:r>
            <a:r>
              <a:rPr lang="zh-CN" sz="1500">
                <a:solidFill>
                  <a:srgbClr val="D9B36C">
                    <a:alpha val="90000"/>
                  </a:srgbClr>
                </a:solidFill>
                <a:latin typeface="Source Han Serif SC"/>
                <a:ea typeface="Source Han Serif SC"/>
              </a:rPr>
              <a:t>提醒少数「不能错过」，其余的，允许漂过</a:t>
            </a:r>
            <a:endParaRPr lang="zh-CN" altLang="en-US" sz="1500">
              <a:solidFill>
                <a:srgbClr val="D9B36C">
                  <a:alpha val="90000"/>
                </a:srgbClr>
              </a:solidFill>
              <a:latin typeface="Source Han Serif SC"/>
              <a:ea typeface="Source Han Serif SC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666750" y="6400800"/>
            <a:ext cx="1485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Kairos Tide · </a:t>
            </a:r>
            <a:r>
              <a:rPr lang="zh-CN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柔性潮汐钟</a:t>
            </a:r>
            <a:endParaRPr lang="zh-CN" sz="1050">
              <a:solidFill>
                <a:srgbClr val="8FA8B8">
                  <a:alpha val="60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11068050" y="64008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70000"/>
                  </a:srgbClr>
                </a:solidFill>
                <a:latin typeface="Source Han Sans SC"/>
                <a:ea typeface="Source Han Sans SC"/>
              </a:rPr>
              <a:t>07 / 11</a:t>
            </a:r>
            <a:endParaRPr lang="en-US" sz="1050">
              <a:solidFill>
                <a:srgbClr val="8FA8B8">
                  <a:alpha val="70000"/>
                </a:srgbClr>
              </a:solidFill>
              <a:latin typeface="Source Han Sans SC"/>
              <a:ea typeface="Source Han Sans SC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15782"/>
          <a:stretch>
            <a:fillRect/>
          </a:stretch>
        </p:blipFill>
        <p:spPr>
          <a:xfrm>
            <a:off x="7237095" y="807085"/>
            <a:ext cx="3637915" cy="18116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346" r="-346" b="-2313"/>
          <a:stretch>
            <a:fillRect/>
          </a:stretch>
        </p:blipFill>
        <p:spPr>
          <a:xfrm>
            <a:off x="4961255" y="3561080"/>
            <a:ext cx="3673475" cy="17976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b="1073"/>
          <a:stretch>
            <a:fillRect/>
          </a:stretch>
        </p:blipFill>
        <p:spPr>
          <a:xfrm>
            <a:off x="8775065" y="3561080"/>
            <a:ext cx="3298190" cy="17519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rcRect t="18312"/>
          <a:stretch>
            <a:fillRect/>
          </a:stretch>
        </p:blipFill>
        <p:spPr>
          <a:xfrm>
            <a:off x="3630295" y="807085"/>
            <a:ext cx="3411855" cy="1812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 descr="&lt;Slide style={{ width: 1280, height: 720, padding: '20px 70px', background: 'linear-gradient(180deg, #0E1A24 0%, #16242F 100%)' }}&gt;&#10;  &lt;Box style={{ flex: 1, flexDirection: 'row', alignItems: 'center' }}&gt;&#10;    &lt;Box style={{ width: '62%', justifyContent: 'center', alignItems: 'flex-start' }}&gt;&#10;      &lt;Text style={{ fontSize: 150, fontWeight: 'bold', color: '#F2EFE6', letterSpacing: 20, lineHeight: 1.1, fontFamily: &quot;'Source Han Serif SC','思源宋体',serif&quot; }}&gt;无用&lt;/Text&gt;&#10;      &lt;Box style={{ width: 64, height: 2, background: '#D9B36C', marginTop: 26 }} /&gt;&#10;      &lt;Text style={{ fontSize: 20, color: '#8FA8B8', marginTop: 20, letterSpacing: 4, fontFamily: &quot;'Source Han Sans SC','思源黑体','Microsoft YaHei',sans-serif&quot; }}&gt;最后，说说它的「无用」&lt;/Text&gt;&#10;    &lt;/Box&gt;&#10;    &lt;Box style={{ flex: 1, justifyContent: 'center' }}&gt;&#10;      &lt;Text style={{ fontSize: 22, color: '#8FA8B8', lineHeight: 2.1, fontFamily: &quot;'Source Han Sans SC','思源黑体','Microsoft YaHei',sans-serif&quot; }}&gt;它不帮你节省时间&lt;br /&gt;不帮你提高效率&lt;br /&gt;不帮你赶上下一个 due&lt;/Text&gt;&#10;      &lt;Box style={{ width: '100%', height: 1, background: 'rgba(143,168,184,0.25)', marginTop: 26 }} /&gt;&#10;      &lt;Text style={{ fontSize: 21, color: '#D9B36C', lineHeight: 1.8, marginTop: 24, fontFamily: &quot;'Source Han Serif SC','思源宋体',serif&quot; }}&gt;我们拼命节省下来的时间，&lt;br /&gt;本来也是要拿来用掉的。&lt;br /&gt;&lt;span style={{ color: '#F2EFE6', fontSize: 23 }}&gt;时间不是被管理的资源，&lt;br /&gt;而是你活着的每一个此刻。&lt;/span&gt;&lt;/Text&gt;&#10;    &lt;/Box&gt;&#10;  &lt;/Box&gt;&#10;  &lt;Box style={{ height: 40, flexDirection: 'row', justifyContent: 'space-between', alignItems: 'center' }}&gt;&#10;    &lt;Text style={{ fontSize: 14, color: '#8FA8B8', opacity: 0.6, fontFamily: &quot;'Source Han Sans SC','思源黑体','Microsoft YaHei',sans-serif&quot; }}&gt;Kairos Tide · 柔性潮汐钟&lt;/Text&gt;&#10;    &lt;Text style={{ fontSize: 14, color: '#8FA8B8', opacity: 0.7, fontFamily: &quot;'Source Han Sans SC','思源黑体','Microsoft YaHei',sans-serif&quot; }}&gt;07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A24"/>
              </a:gs>
              <a:gs pos="100000">
                <a:srgbClr val="16242F"/>
              </a:gs>
            </a:gsLst>
            <a:lin ang="5400000" scaled="1"/>
          </a:gradFill>
        </p:spPr>
        <p:txBody>
          <a:bodyPr>
            <a:noAutofit/>
          </a:bodyPr>
          <a:p>
            <a:pPr lvl="0" algn="l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666750" y="1952625"/>
            <a:ext cx="3238500" cy="1885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11250" b="1" spc="1500">
                <a:solidFill>
                  <a:srgbClr val="F2EFE6"/>
                </a:solidFill>
                <a:latin typeface="Source Han Serif SC"/>
                <a:ea typeface="Source Han Serif SC"/>
              </a:rPr>
              <a:t>无用</a:t>
            </a:r>
            <a:endParaRPr lang="zh-CN" sz="11250" b="1" spc="150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666750" y="4086225"/>
            <a:ext cx="609600" cy="19050"/>
          </a:xfrm>
          <a:prstGeom prst="rect">
            <a:avLst/>
          </a:prstGeom>
          <a:solidFill>
            <a:srgbClr val="D9B36C"/>
          </a:solidFill>
        </p:spPr>
        <p:txBody>
          <a:bodyPr/>
          <a:p/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666750" y="4295775"/>
            <a:ext cx="2514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8FA8B8"/>
                </a:solidFill>
                <a:latin typeface="Source Han Sans SC"/>
                <a:ea typeface="Source Han Sans SC"/>
              </a:rPr>
              <a:t>无用之用，</a:t>
            </a:r>
            <a:r>
              <a:rPr lang="zh-CN" sz="1500" spc="300">
                <a:solidFill>
                  <a:srgbClr val="8FA8B8"/>
                </a:solidFill>
                <a:latin typeface="Source Han Sans SC"/>
                <a:ea typeface="Source Han Sans SC"/>
              </a:rPr>
              <a:t>方为大用</a:t>
            </a:r>
            <a:endParaRPr lang="zh-CN" sz="1500" spc="300">
              <a:solidFill>
                <a:srgbClr val="8FA8B8"/>
              </a:solidFill>
              <a:latin typeface="Source Han Sans SC"/>
              <a:ea typeface="Source Han Sans SC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7400925" y="1221105"/>
            <a:ext cx="4124325" cy="1590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000">
                <a:solidFill>
                  <a:srgbClr val="8FA8B8"/>
                </a:solidFill>
                <a:latin typeface="Source Han Sans SC"/>
                <a:ea typeface="Source Han Sans SC"/>
              </a:rPr>
              <a:t>它不帮你节省时间</a:t>
            </a:r>
            <a:endParaRPr lang="zh-CN" sz="2000">
              <a:solidFill>
                <a:srgbClr val="8FA8B8"/>
              </a:solidFill>
              <a:latin typeface="Source Han Sans SC"/>
              <a:ea typeface="Source Han Sans SC"/>
            </a:endParaRPr>
          </a:p>
          <a:p>
            <a:pPr>
              <a:lnSpc>
                <a:spcPct val="210000"/>
              </a:lnSpc>
            </a:pPr>
            <a:r>
              <a:rPr lang="zh-CN" sz="2000">
                <a:solidFill>
                  <a:srgbClr val="8FA8B8"/>
                </a:solidFill>
                <a:latin typeface="Source Han Sans SC"/>
                <a:ea typeface="Source Han Sans SC"/>
              </a:rPr>
              <a:t>不帮你提高效率</a:t>
            </a:r>
            <a:endParaRPr lang="zh-CN" sz="2000">
              <a:solidFill>
                <a:srgbClr val="8FA8B8"/>
              </a:solidFill>
              <a:latin typeface="Source Han Sans SC"/>
              <a:ea typeface="Source Han Sans SC"/>
            </a:endParaRPr>
          </a:p>
          <a:p>
            <a:pPr>
              <a:lnSpc>
                <a:spcPct val="210000"/>
              </a:lnSpc>
            </a:pPr>
            <a:r>
              <a:rPr lang="zh-CN" sz="2000">
                <a:solidFill>
                  <a:srgbClr val="8FA8B8"/>
                </a:solidFill>
                <a:latin typeface="Source Han Sans SC"/>
                <a:ea typeface="Source Han Sans SC"/>
              </a:rPr>
              <a:t>不帮你赶上下一个</a:t>
            </a:r>
            <a:r>
              <a:rPr lang="en-US" sz="2000">
                <a:solidFill>
                  <a:srgbClr val="8FA8B8"/>
                </a:solidFill>
                <a:latin typeface="Source Han Sans SC"/>
                <a:ea typeface="Source Han Sans SC"/>
              </a:rPr>
              <a:t> due</a:t>
            </a:r>
            <a:endParaRPr lang="en-US" sz="2000">
              <a:solidFill>
                <a:srgbClr val="8FA8B8"/>
              </a:solidFill>
              <a:latin typeface="Source Han Sans SC"/>
              <a:ea typeface="Source Han Sans SC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400925" y="3488055"/>
            <a:ext cx="4124325" cy="9525"/>
          </a:xfrm>
          <a:prstGeom prst="rect">
            <a:avLst/>
          </a:prstGeom>
          <a:solidFill>
            <a:srgbClr val="8FA8B8">
              <a:alpha val="25000"/>
            </a:srgbClr>
          </a:solidFill>
        </p:spPr>
        <p:txBody>
          <a:bodyPr/>
          <a:p>
            <a:endParaRPr sz="2000"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7400925" y="3750310"/>
            <a:ext cx="4124325" cy="181927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80000"/>
              </a:lnSpc>
            </a:pPr>
            <a:r>
              <a:rPr lang="zh-CN" sz="2400">
                <a:solidFill>
                  <a:srgbClr val="F2EFE6"/>
                </a:solidFill>
                <a:latin typeface="Source Han Serif SC"/>
                <a:ea typeface="Source Han Serif SC"/>
              </a:rPr>
              <a:t>时间不是被管理的资源，</a:t>
            </a:r>
            <a:r>
              <a:rPr sz="2400">
                <a:solidFill>
                  <a:srgbClr val="F2EFE6"/>
                </a:solidFill>
                <a:latin typeface="Source Han Serif SC"/>
                <a:ea typeface="Source Han Serif SC"/>
              </a:rPr>
              <a:t>
</a:t>
            </a:r>
            <a:r>
              <a:rPr lang="zh-CN" sz="2400">
                <a:solidFill>
                  <a:srgbClr val="D9B36C"/>
                </a:solidFill>
                <a:uFillTx/>
                <a:latin typeface="Source Han Serif SC Heavy" panose="02020A00000000000000" charset="-122"/>
                <a:ea typeface="Source Han Serif SC Heavy" panose="02020A00000000000000" charset="-122"/>
              </a:rPr>
              <a:t>而是你活着的每一个此刻。</a:t>
            </a:r>
            <a:endParaRPr lang="zh-CN" sz="2400">
              <a:solidFill>
                <a:srgbClr val="D9B36C"/>
              </a:solidFill>
              <a:uFillTx/>
              <a:latin typeface="Source Han Serif SC Heavy" panose="02020A00000000000000" charset="-122"/>
              <a:ea typeface="Source Han Serif SC Heavy" panose="02020A00000000000000" charset="-122"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66750" y="6400800"/>
            <a:ext cx="1485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Kairos Tide · </a:t>
            </a:r>
            <a:r>
              <a:rPr lang="zh-CN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柔性潮汐钟</a:t>
            </a:r>
            <a:endParaRPr lang="zh-CN" sz="1050">
              <a:solidFill>
                <a:srgbClr val="8FA8B8">
                  <a:alpha val="60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11068050" y="650811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70000"/>
                  </a:srgbClr>
                </a:solidFill>
                <a:latin typeface="Source Han Sans SC"/>
                <a:ea typeface="Source Han Sans SC"/>
              </a:rPr>
              <a:t>08 / 11</a:t>
            </a:r>
            <a:endParaRPr lang="en-US" sz="1050">
              <a:solidFill>
                <a:srgbClr val="8FA8B8">
                  <a:alpha val="70000"/>
                </a:srgbClr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 descr="&lt;Slide style={{ width: 1280, height: 720, padding: 0, background: '#0E1A24', position: 'relative' }}&gt;&#10;  &lt;Image src=&quot;assets/ending_dawn.png&quot; style={{ position: 'absolute', top: 0, left: 0, width: 1280, height: 720, objectFit: 'cover' }} /&gt;&#10;  &lt;Box style={{ position: 'absolute', top: 0, left: 0, width: 1280, height: 720, background: 'linear-gradient(180deg, rgba(14,26,36,0.30) 0%, rgba(14,26,36,0.72) 100%)' }} /&gt;&#10;  &lt;Box style={{ position: 'absolute', right: 80, bottom: 90, width: 640, alignItems: 'flex-end' }}&gt;&#10;    &lt;Text style={{ fontSize: 18, color: '#D9B36C', letterSpacing: 8, fontFamily: &quot;'Source Han Serif SC','思源宋体',serif&quot; }}&gt;昼夜交替 · 四季流转&lt;/Text&gt;&#10;    &lt;Text style={{ fontSize: 46, fontWeight: 'bold', color: '#F2EFE6', marginTop: 18, textAlign: 'right', lineHeight: 1.4, fontFamily: &quot;'Source Han Serif SC','思源宋体',serif&quot; }}&gt;重新栖居&lt;br /&gt;在时间里&lt;/Text&gt;&#10;    &lt;Text style={{ fontSize: 19, color: '#F2EFE6', opacity: 0.8, marginTop: 18, textAlign: 'right', lineHeight: 1.7, fontFamily: &quot;'Source Han Sans SC','思源黑体','Microsoft YaHei',sans-serif&quot; }}&gt;秋天不是「九月中」，&lt;br /&gt;而是「气肃而凝，万物收」&lt;/Text&gt;&#10;  &lt;/Box&gt;&#10;  &lt;Box style={{ position: 'absolute', right: 80, bottom: 34 }}&gt;&#10;    &lt;Text style={{ fontSize: 14, color: '#F2EFE6', opacity: 0.65, fontFamily: &quot;'Source Han Sans SC','思源黑体','Microsoft YaHei',sans-serif&quot; }}&gt;08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</p:spPr>
        <p:txBody>
          <a:bodyPr/>
          <a:p/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1"/>
          <a:srcRect t="3993" b="399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5" name="矩形 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A24">
                  <a:alpha val="30000"/>
                </a:srgbClr>
              </a:gs>
              <a:gs pos="100000">
                <a:srgbClr val="0E1A24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9677400" y="3609975"/>
            <a:ext cx="1752600" cy="147637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3450" b="1">
                <a:solidFill>
                  <a:srgbClr val="F2EFE6"/>
                </a:solidFill>
                <a:latin typeface="Source Han Serif SC"/>
                <a:ea typeface="Source Han Serif SC"/>
              </a:rPr>
              <a:t>重新栖居</a:t>
            </a:r>
            <a:endParaRPr lang="zh-CN" sz="3450" b="1">
              <a:solidFill>
                <a:srgbClr val="F2EFE6"/>
              </a:solidFill>
              <a:latin typeface="Source Han Serif SC"/>
              <a:ea typeface="Source Han Serif SC"/>
            </a:endParaRPr>
          </a:p>
          <a:p>
            <a:pPr algn="r">
              <a:lnSpc>
                <a:spcPct val="140000"/>
              </a:lnSpc>
            </a:pPr>
            <a:r>
              <a:rPr lang="zh-CN" sz="3450" b="1">
                <a:solidFill>
                  <a:srgbClr val="F2EFE6"/>
                </a:solidFill>
                <a:latin typeface="Source Han Serif SC"/>
                <a:ea typeface="Source Han Serif SC"/>
              </a:rPr>
              <a:t>在时间里</a:t>
            </a:r>
            <a:endParaRPr lang="zh-CN" sz="3450" b="1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10972800" y="63722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2EFE6">
                    <a:alpha val="65000"/>
                  </a:srgbClr>
                </a:solidFill>
                <a:latin typeface="Source Han Sans SC"/>
                <a:ea typeface="Source Han Sans SC"/>
              </a:rPr>
              <a:t>09 / 11</a:t>
            </a:r>
            <a:endParaRPr lang="en-US" sz="1050">
              <a:solidFill>
                <a:srgbClr val="F2EFE6">
                  <a:alpha val="6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762000" y="4600575"/>
            <a:ext cx="723900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150">
                <a:solidFill>
                  <a:srgbClr val="F2EFE6"/>
                </a:solidFill>
                <a:latin typeface="Source Han Serif SC"/>
                <a:ea typeface="Source Han Serif SC"/>
              </a:rPr>
              <a:t>Kairos Tide</a:t>
            </a:r>
            <a:endParaRPr lang="en-US" sz="6600" b="1" spc="15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762000" y="5972175"/>
            <a:ext cx="7239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>
                <a:solidFill>
                  <a:srgbClr val="F2EFE6">
                    <a:alpha val="88000"/>
                  </a:srgbClr>
                </a:solidFill>
                <a:latin typeface="Source Han Sans SC"/>
                <a:ea typeface="Source Han Sans SC"/>
              </a:rPr>
              <a:t>一块不显示刻度时间的潮汐钟</a:t>
            </a:r>
            <a:r>
              <a:rPr lang="en-US" sz="2000">
                <a:solidFill>
                  <a:srgbClr val="F2EFE6">
                    <a:alpha val="88000"/>
                  </a:srgbClr>
                </a:solidFill>
                <a:latin typeface="Source Han Sans SC"/>
                <a:ea typeface="Source Han Sans SC"/>
              </a:rPr>
              <a:t> —— </a:t>
            </a:r>
            <a:r>
              <a:rPr lang="zh-CN" sz="2000">
                <a:solidFill>
                  <a:srgbClr val="F2EFE6">
                    <a:alpha val="88000"/>
                  </a:srgbClr>
                </a:solidFill>
                <a:latin typeface="Source Han Sans SC"/>
                <a:ea typeface="Source Han Sans SC"/>
              </a:rPr>
              <a:t>找回「时间之流」</a:t>
            </a:r>
            <a:endParaRPr lang="zh-CN" sz="2000">
              <a:solidFill>
                <a:srgbClr val="F2EFE6">
                  <a:alpha val="88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2000" y="5743575"/>
            <a:ext cx="609600" cy="19050"/>
          </a:xfrm>
          <a:prstGeom prst="rect">
            <a:avLst/>
          </a:prstGeom>
          <a:solidFill>
            <a:srgbClr val="D9B36C"/>
          </a:solidFill>
        </p:spPr>
        <p:txBody>
          <a:bodyPr/>
          <a:p/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762000" y="4210050"/>
            <a:ext cx="723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pc="600">
                <a:solidFill>
                  <a:srgbClr val="D9B36C"/>
                </a:solidFill>
                <a:latin typeface="Source Han Serif SC"/>
                <a:ea typeface="Source Han Serif SC"/>
              </a:rPr>
              <a:t>黑客松路演</a:t>
            </a:r>
            <a:r>
              <a:rPr lang="en-US" spc="600">
                <a:solidFill>
                  <a:srgbClr val="D9B36C"/>
                </a:solidFill>
                <a:latin typeface="Source Han Serif SC"/>
                <a:ea typeface="Source Han Serif SC"/>
              </a:rPr>
              <a:t> · </a:t>
            </a:r>
            <a:r>
              <a:rPr lang="zh-CN" spc="600">
                <a:solidFill>
                  <a:srgbClr val="D9B36C"/>
                </a:solidFill>
                <a:latin typeface="Source Han Serif SC"/>
                <a:ea typeface="Source Han Serif SC"/>
              </a:rPr>
              <a:t>柔性潮汐钟</a:t>
            </a:r>
            <a:endParaRPr lang="zh-CN" spc="600">
              <a:solidFill>
                <a:srgbClr val="D9B36C"/>
              </a:solidFill>
              <a:latin typeface="Source Han Serif SC"/>
              <a:ea typeface="Source Han Serif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 descr="&lt;Slide style={{ width: 1280, height: 720, padding: '20px 70px', background: 'linear-gradient(180deg, #0E1A24 0%, #16242F 100%)' }}&gt;&#10;  &lt;Box style={{ height: 90, justifyContent: 'flex-end', paddingBottom: 6 }}&gt;&#10;    &lt;Text style={{ fontSize: 34, fontWeight: 'bold', color: '#F2EFE6', fontFamily: &quot;'Source Han Serif SC','思源宋体',serif&quot;, letterSpacing: 2 }}&gt;团队分工&lt;/Text&gt;&#10;  &lt;/Box&gt;&#10;  &lt;Box style={{ flex: 1, flexDirection: 'row', marginTop: 22 }}&gt;&#10;    &lt;Box style={{ width: 360, justifyContent: 'center', paddingRight: 40 }}&gt;&#10;      &lt;Text style={{ fontSize: 24, color: '#F2EFE6', lineHeight: 1.8, fontFamily: &quot;'Source Han Serif SC','思源宋体',serif&quot; }}&gt;如图，&lt;br /&gt;是我们的具体分工。&lt;/Text&gt;&#10;      &lt;Box style={{ width: 56, height: 2, background: '#D9B36C', marginTop: 24 }} /&gt;&#10;      &lt;Text style={{ fontSize: 17, color: '#8FA8B8', marginTop: 20, lineHeight: 1.7, fontFamily: &quot;'Source Han Sans SC','思源黑体','Microsoft YaHei',sans-serif&quot; }}&gt;让每一次协作，&lt;br /&gt;也像潮汐一样各就其时。&lt;/Text&gt;&#10;    &lt;/Box&gt;&#10;    &lt;Box style={{ flex: 1, border: '2px dashed rgba(143,168,184,0.45)', borderRadius: 12, justifyContent: 'center', alignItems: 'center', background: 'rgba(143,168,184,0.05)' }}&gt;&#10;      &lt;svg width={64} height={64} viewBox=&quot;0 0 64 64&quot;&gt;&#10;        &lt;rect x=&quot;10&quot; y=&quot;10&quot; width=&quot;20&quot; height=&quot;20&quot; rx=&quot;3&quot; fill=&quot;none&quot; stroke=&quot;#8FA8B8&quot; strokeWidth=&quot;1.5&quot; opacity=&quot;0.7&quot; /&gt;&#10;        &lt;rect x=&quot;34&quot; y=&quot;10&quot; width=&quot;20&quot; height=&quot;20&quot; rx=&quot;3&quot; fill=&quot;none&quot; stroke=&quot;#8FA8B8&quot; strokeWidth=&quot;1.5&quot; opacity=&quot;0.45&quot; /&gt;&#10;        &lt;rect x=&quot;10&quot; y=&quot;34&quot; width=&quot;20&quot; height=&quot;20&quot; rx=&quot;3&quot; fill=&quot;none&quot; stroke=&quot;#8FA8B8&quot; strokeWidth=&quot;1.5&quot; opacity=&quot;0.45&quot; /&gt;&#10;        &lt;rect x=&quot;34&quot; y=&quot;34&quot; width=&quot;20&quot; height=&quot;20&quot; rx=&quot;3&quot; fill=&quot;none&quot; stroke=&quot;#D9B36C&quot; strokeWidth=&quot;1.5&quot; opacity=&quot;0.8&quot; /&gt;&#10;      &lt;/svg&gt;&#10;      &lt;Text style={{ fontSize: 22, color: '#8FA8B8', marginTop: 18, letterSpacing: 4, fontFamily: &quot;'Source Han Sans SC','思源黑体','Microsoft YaHei',sans-serif&quot; }}&gt;分工图占位&lt;/Text&gt;&#10;      &lt;Text style={{ fontSize: 14, color: '#8FA8B8', opacity: 0.6, marginTop: 10, fontFamily: &quot;'Source Han Sans SC','思源黑体','Microsoft YaHei',sans-serif&quot; }}&gt;请替换为真实团队分工图&lt;/Text&gt;&#10;    &lt;/Box&gt;&#10;  &lt;/Box&gt;&#10;  &lt;Box style={{ height: 40, flexDirection: 'row', justifyContent: 'space-between', alignItems: 'center' }}&gt;&#10;    &lt;Text style={{ fontSize: 14, color: '#8FA8B8', opacity: 0.6, fontFamily: &quot;'Source Han Sans SC','思源黑体','Microsoft YaHei',sans-serif&quot; }}&gt;Kairos Tide · 柔性潮汐钟&lt;/Text&gt;&#10;    &lt;Text style={{ fontSize: 14, color: '#8FA8B8', opacity: 0.7, fontFamily: &quot;'Source Han Sans SC','思源黑体','Microsoft YaHei',sans-serif&quot; }}&gt;09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A24"/>
              </a:gs>
              <a:gs pos="100000">
                <a:srgbClr val="16242F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666750" y="600075"/>
            <a:ext cx="1085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150">
                <a:solidFill>
                  <a:srgbClr val="F2EFE6"/>
                </a:solidFill>
                <a:latin typeface="Source Han Serif SC"/>
                <a:ea typeface="Source Han Serif SC"/>
              </a:rPr>
              <a:t>团队分工</a:t>
            </a:r>
            <a:endParaRPr lang="zh-CN" sz="2550" b="1" spc="15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666750" y="2724150"/>
            <a:ext cx="3048000" cy="990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800">
                <a:solidFill>
                  <a:srgbClr val="F2EFE6"/>
                </a:solidFill>
                <a:latin typeface="Source Han Serif SC"/>
                <a:ea typeface="Source Han Serif SC"/>
              </a:rPr>
              <a:t>如图，</a:t>
            </a:r>
            <a:endParaRPr lang="zh-CN" sz="1800">
              <a:solidFill>
                <a:srgbClr val="F2EFE6"/>
              </a:solidFill>
              <a:latin typeface="Source Han Serif SC"/>
              <a:ea typeface="Source Han Serif SC"/>
            </a:endParaRPr>
          </a:p>
          <a:p>
            <a:pPr>
              <a:lnSpc>
                <a:spcPct val="180000"/>
              </a:lnSpc>
            </a:pPr>
            <a:r>
              <a:rPr lang="zh-CN" sz="1800">
                <a:solidFill>
                  <a:srgbClr val="F2EFE6"/>
                </a:solidFill>
                <a:latin typeface="Source Han Serif SC"/>
                <a:ea typeface="Source Han Serif SC"/>
              </a:rPr>
              <a:t>是我们的具体分工。</a:t>
            </a:r>
            <a:endParaRPr lang="zh-CN" sz="1800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666750" y="3943350"/>
            <a:ext cx="533400" cy="19050"/>
          </a:xfrm>
          <a:prstGeom prst="rect">
            <a:avLst/>
          </a:prstGeom>
          <a:solidFill>
            <a:srgbClr val="D9B36C"/>
          </a:solidFill>
        </p:spPr>
        <p:txBody>
          <a:bodyPr/>
          <a:p/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666750" y="4152900"/>
            <a:ext cx="3048000" cy="666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8FA8B8"/>
                </a:solidFill>
                <a:latin typeface="Source Han Sans SC"/>
                <a:ea typeface="Source Han Sans SC"/>
              </a:rPr>
              <a:t>让每一次协作，</a:t>
            </a:r>
            <a:endParaRPr lang="zh-CN" sz="1275">
              <a:solidFill>
                <a:srgbClr val="8FA8B8"/>
              </a:solidFill>
              <a:latin typeface="Source Han Sans SC"/>
              <a:ea typeface="Source Han Sans SC"/>
            </a:endParaRPr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8FA8B8"/>
                </a:solidFill>
                <a:latin typeface="Source Han Sans SC"/>
                <a:ea typeface="Source Han Sans SC"/>
              </a:rPr>
              <a:t>也像潮汐一样各就其时。</a:t>
            </a:r>
            <a:endParaRPr lang="zh-CN" sz="1275">
              <a:solidFill>
                <a:srgbClr val="8FA8B8"/>
              </a:solidFill>
              <a:latin typeface="Source Han Sans SC"/>
              <a:ea typeface="Source Han Sans SC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666750" y="6400800"/>
            <a:ext cx="1485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Kairos Tide · </a:t>
            </a:r>
            <a:r>
              <a:rPr lang="zh-CN" sz="1050">
                <a:solidFill>
                  <a:srgbClr val="8FA8B8">
                    <a:alpha val="60000"/>
                  </a:srgbClr>
                </a:solidFill>
                <a:latin typeface="Source Han Sans SC"/>
                <a:ea typeface="Source Han Sans SC"/>
              </a:rPr>
              <a:t>柔性潮汐钟</a:t>
            </a:r>
            <a:endParaRPr lang="zh-CN" sz="1050">
              <a:solidFill>
                <a:srgbClr val="8FA8B8">
                  <a:alpha val="60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11068050" y="64008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8B8">
                    <a:alpha val="70000"/>
                  </a:srgbClr>
                </a:solidFill>
                <a:latin typeface="Source Han Sans SC"/>
                <a:ea typeface="Source Han Sans SC"/>
              </a:rPr>
              <a:t>10 / 11</a:t>
            </a:r>
            <a:endParaRPr lang="en-US" sz="1050">
              <a:solidFill>
                <a:srgbClr val="8FA8B8">
                  <a:alpha val="70000"/>
                </a:srgbClr>
              </a:solidFill>
              <a:latin typeface="Source Han Sans SC"/>
              <a:ea typeface="Source Han Sans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6465" y="528320"/>
            <a:ext cx="8253095" cy="58019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 descr="&lt;Slide style={{ width: 1280, height: 720, padding: 0, background: 'linear-gradient(180deg, #16242F 0%, #0E1A24 100%)', position: 'relative' }}&gt;&#10;  &lt;Box style={{ position: 'absolute', top: 0, left: 0, width: 1280, height: 720, justifyContent: 'center', alignItems: 'center' }}&gt;&#10;    &lt;svg width={480} height={480} viewBox=&quot;0 0 480 480&quot;&gt;&#10;      &lt;circle cx=&quot;240&quot; cy=&quot;240&quot; r=&quot;200&quot; fill=&quot;none&quot; stroke=&quot;#D9B36C&quot; strokeWidth=&quot;1&quot; opacity=&quot;0.28&quot; /&gt;&#10;      &lt;circle cx=&quot;240&quot; cy=&quot;240&quot; r=&quot;150&quot; fill=&quot;none&quot; stroke=&quot;#D9B36C&quot; strokeWidth=&quot;1&quot; opacity=&quot;0.14&quot; /&gt;&#10;    &lt;/svg&gt;&#10;  &lt;/Box&gt;&#10;  &lt;Box style={{ position: 'absolute', top: 0, left: 0, width: 1280, height: 720, justifyContent: 'center', alignItems: 'center' }}&gt;&#10;    &lt;Text style={{ fontSize: 17, color: '#D9B36C', letterSpacing: 8, fontFamily: &quot;'Source Han Serif SC','思源宋体',serif&quot; }}&gt;Kairos Tide · 柔性潮汐钟&lt;/Text&gt;&#10;    &lt;Text style={{ fontSize: 52, fontWeight: 'bold', color: '#F2EFE6', textAlign: 'center', lineHeight: 1.55, marginTop: 30, fontFamily: &quot;'Source Han Serif SC','思源宋体',serif&quot; }}&gt;愿你进来时带着钟表，&lt;br /&gt;离开时，与万物同频。&lt;/Text&gt;&#10;    &lt;Box style={{ width: 64, height: 2, background: '#D9B36C', marginTop: 36 }} /&gt;&#10;    &lt;Text style={{ fontSize: 22, color: '#D9B36C', opacity: 0.85, marginTop: 28, letterSpacing: 12, fontFamily: &quot;'Source Han Serif SC','思源宋体',serif&quot; }}&gt;谢 谢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42F"/>
              </a:gs>
              <a:gs pos="100000">
                <a:srgbClr val="0E1A24"/>
              </a:gs>
            </a:gsLst>
            <a:lin ang="5400000" scaled="1"/>
          </a:gradFill>
        </p:spPr>
        <p:txBody>
          <a:bodyPr/>
          <a:p/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0" y="1468755"/>
            <a:ext cx="4572000" cy="4572000"/>
          </a:xfrm>
          <a:prstGeom prst="rect">
            <a:avLst/>
          </a:prstGeom>
        </p:spPr>
      </p:pic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4419600" y="2002155"/>
            <a:ext cx="3352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600">
                <a:solidFill>
                  <a:srgbClr val="D9B36C"/>
                </a:solidFill>
                <a:latin typeface="Source Han Serif SC"/>
                <a:ea typeface="Source Han Serif SC"/>
              </a:rPr>
              <a:t>Kairos Tide · </a:t>
            </a:r>
            <a:r>
              <a:rPr lang="zh-CN" sz="1275" spc="600">
                <a:solidFill>
                  <a:srgbClr val="D9B36C"/>
                </a:solidFill>
                <a:latin typeface="Source Han Serif SC"/>
                <a:ea typeface="Source Han Serif SC"/>
              </a:rPr>
              <a:t>柔性潮汐钟</a:t>
            </a:r>
            <a:endParaRPr lang="zh-CN" sz="1275" spc="600">
              <a:solidFill>
                <a:srgbClr val="D9B36C"/>
              </a:solidFill>
              <a:latin typeface="Source Han Serif SC"/>
              <a:ea typeface="Source Han Serif SC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3859530" y="2305050"/>
            <a:ext cx="4953000" cy="18478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zh-CN" sz="3900" b="1">
                <a:solidFill>
                  <a:srgbClr val="F2EFE6"/>
                </a:solidFill>
                <a:latin typeface="Source Han Serif SC"/>
                <a:ea typeface="Source Han Serif SC"/>
              </a:rPr>
              <a:t>愿你来时带着钟表，</a:t>
            </a:r>
            <a:endParaRPr lang="zh-CN" sz="3900" b="1">
              <a:solidFill>
                <a:srgbClr val="F2EFE6"/>
              </a:solidFill>
              <a:latin typeface="Source Han Serif SC"/>
              <a:ea typeface="Source Han Serif SC"/>
            </a:endParaRPr>
          </a:p>
          <a:p>
            <a:pPr algn="ctr">
              <a:lnSpc>
                <a:spcPct val="155000"/>
              </a:lnSpc>
            </a:pPr>
            <a:r>
              <a:rPr lang="zh-CN" sz="3900" b="1">
                <a:solidFill>
                  <a:srgbClr val="F2EFE6"/>
                </a:solidFill>
                <a:latin typeface="Source Han Serif SC"/>
                <a:ea typeface="Source Han Serif SC"/>
              </a:rPr>
              <a:t>离开时与万物同频。</a:t>
            </a:r>
            <a:endParaRPr lang="zh-CN" sz="3900" b="1">
              <a:solidFill>
                <a:srgbClr val="F2EFE6"/>
              </a:solidFill>
              <a:latin typeface="Source Han Serif SC"/>
              <a:ea typeface="Source Han Serif SC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791200" y="4495800"/>
            <a:ext cx="609600" cy="19050"/>
          </a:xfrm>
          <a:prstGeom prst="rect">
            <a:avLst/>
          </a:prstGeom>
          <a:solidFill>
            <a:srgbClr val="D9B36C"/>
          </a:solidFill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5686425" y="4781550"/>
            <a:ext cx="819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900">
                <a:solidFill>
                  <a:srgbClr val="D9B36C">
                    <a:alpha val="85000"/>
                  </a:srgbClr>
                </a:solidFill>
                <a:latin typeface="Source Han Serif SC"/>
                <a:ea typeface="Source Han Serif SC"/>
              </a:rPr>
              <a:t>谢</a:t>
            </a:r>
            <a:r>
              <a:rPr lang="en-US" sz="1650" spc="900">
                <a:solidFill>
                  <a:srgbClr val="D9B36C">
                    <a:alpha val="85000"/>
                  </a:srgbClr>
                </a:solidFill>
                <a:latin typeface="Source Han Serif SC"/>
                <a:ea typeface="Source Han Serif SC"/>
              </a:rPr>
              <a:t> </a:t>
            </a:r>
            <a:r>
              <a:rPr lang="zh-CN" sz="1650" spc="900">
                <a:solidFill>
                  <a:srgbClr val="D9B36C">
                    <a:alpha val="85000"/>
                  </a:srgbClr>
                </a:solidFill>
                <a:latin typeface="Source Han Serif SC"/>
                <a:ea typeface="Source Han Serif SC"/>
              </a:rPr>
              <a:t>谢</a:t>
            </a:r>
            <a:endParaRPr lang="zh-CN" sz="1650" spc="900">
              <a:solidFill>
                <a:srgbClr val="D9B36C">
                  <a:alpha val="85000"/>
                </a:srgbClr>
              </a:solidFill>
              <a:latin typeface="Source Han Serif SC"/>
              <a:ea typeface="Source Han Serif SC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2000" y="4572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pc="600">
                <a:solidFill>
                  <a:srgbClr val="D9B36C"/>
                </a:solidFill>
                <a:latin typeface="Source Han Serif SC"/>
                <a:ea typeface="Source Han Serif SC"/>
              </a:rPr>
              <a:t>GK-024  你说的都队</a:t>
            </a:r>
            <a:endParaRPr lang="zh-CN" spc="600">
              <a:solidFill>
                <a:srgbClr val="D9B36C"/>
              </a:solidFill>
              <a:latin typeface="Source Han Serif SC"/>
              <a:ea typeface="Source Han Serif SC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1,&quot;left&quot;:52.5,&quot;top&quot;:366,&quot;width&quot;:855}"/>
</p:tagLst>
</file>

<file path=ppt/tags/tag2.xml><?xml version="1.0" encoding="utf-8"?>
<p:tagLst xmlns:p="http://schemas.openxmlformats.org/presentationml/2006/main">
  <p:tag name="KSO_WM_DIAGRAM_VIRTUALLY_FRAME" val="{&quot;height&quot;:51,&quot;left&quot;:52.5,&quot;top&quot;:366,&quot;width&quot;:855}"/>
</p:tagLst>
</file>

<file path=ppt/tags/tag3.xml><?xml version="1.0" encoding="utf-8"?>
<p:tagLst xmlns:p="http://schemas.openxmlformats.org/presentationml/2006/main">
  <p:tag name="KSO_WM_DIAGRAM_VIRTUALLY_FRAME" val="{&quot;height&quot;:51,&quot;left&quot;:52.5,&quot;top&quot;:366,&quot;width&quot;:855}"/>
</p:tagLst>
</file>

<file path=ppt/tags/tag4.xml><?xml version="1.0" encoding="utf-8"?>
<p:tagLst xmlns:p="http://schemas.openxmlformats.org/presentationml/2006/main">
  <p:tag name="KSO_WM_DIAGRAM_VIRTUALLY_FRAME" val="{&quot;height&quot;:51,&quot;left&quot;:52.5,&quot;top&quot;:366,&quot;width&quot;:855}"/>
</p:tagLst>
</file>

<file path=ppt/tags/tag5.xml><?xml version="1.0" encoding="utf-8"?>
<p:tagLst xmlns:p="http://schemas.openxmlformats.org/presentationml/2006/main">
  <p:tag name="KSO_WM_DIAGRAM_VIRTUALLY_FRAME" val="{&quot;height&quot;:51,&quot;left&quot;:52.5,&quot;top&quot;:366,&quot;width&quot;:855}"/>
</p:tagLst>
</file>

<file path=ppt/tags/tag6.xml><?xml version="1.0" encoding="utf-8"?>
<p:tagLst xmlns:p="http://schemas.openxmlformats.org/presentationml/2006/main">
  <p:tag name="KSO_WM_DIAGRAM_VIRTUALLY_FRAME" val="{&quot;height&quot;:51,&quot;left&quot;:52.5,&quot;top&quot;:366,&quot;width&quot;:855}"/>
</p:tagLst>
</file>

<file path=ppt/tags/tag7.xml><?xml version="1.0" encoding="utf-8"?>
<p:tagLst xmlns:p="http://schemas.openxmlformats.org/presentationml/2006/main">
  <p:tag name="KSO_WM_DIAGRAM_VIRTUALLY_FRAME" val="{&quot;height&quot;:51,&quot;left&quot;:52.5,&quot;top&quot;:366,&quot;width&quot;:855}"/>
</p:tagLst>
</file>

<file path=ppt/tags/tag8.xml><?xml version="1.0" encoding="utf-8"?>
<p:tagLst xmlns:p="http://schemas.openxmlformats.org/presentationml/2006/main">
  <p:tag name="KSO_WM_DIAGRAM_VIRTUALLY_FRAME" val="{&quot;height&quot;:51,&quot;left&quot;:52.5,&quot;top&quot;:366,&quot;width&quot;:855}"/>
</p:tagLst>
</file>

<file path=ppt/tags/tag9.xml><?xml version="1.0" encoding="utf-8"?>
<p:tagLst xmlns:p="http://schemas.openxmlformats.org/presentationml/2006/main">
  <p:tag name="KSO_WM_DIAGRAM_VIRTUALLY_FRAME" val="{&quot;height&quot;:51,&quot;left&quot;:52.5,&quot;top&quot;:366,&quot;width&quot;:855}"/>
</p:tagLst>
</file>

<file path=ppt/tags/tag10.xml><?xml version="1.0" encoding="utf-8"?>
<p:tagLst xmlns:p="http://schemas.openxmlformats.org/presentationml/2006/main">
  <p:tag name="KSO_WM_DIAGRAM_VIRTUALLY_FRAME" val="{&quot;height&quot;:51,&quot;left&quot;:52.5,&quot;top&quot;:366,&quot;width&quot;:85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WPS 演示</Application>
  <PresentationFormat/>
  <Paragraphs>155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Source Han Serif SC</vt:lpstr>
      <vt:lpstr>Source Han Serif SC Heavy</vt:lpstr>
      <vt:lpstr>Source Han Sans SC</vt:lpstr>
      <vt:lpstr>思源宋体</vt:lpstr>
      <vt:lpstr>Calibri</vt:lpstr>
      <vt:lpstr>Segoe Print</vt:lpstr>
      <vt:lpstr>Arial Unicode MS</vt:lpstr>
      <vt:lpstr>Source Han Sans SC</vt:lpstr>
      <vt:lpstr>Source Han Serif SC</vt:lpstr>
      <vt:lpstr>思源宋体</vt:lpstr>
      <vt:lpstr>Prima Serif Std Roman</vt:lpstr>
      <vt:lpstr>Saturday Sans Regular</vt:lpstr>
      <vt:lpstr>兰米宋体</vt:lpstr>
      <vt:lpstr>微软雅黑</vt:lpstr>
      <vt:lpstr>等线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*Wxy</cp:lastModifiedBy>
  <cp:revision>2</cp:revision>
  <dcterms:created xsi:type="dcterms:W3CDTF">2026-09-26T10:24:38Z</dcterms:created>
  <dcterms:modified xsi:type="dcterms:W3CDTF">2026-09-26T10:50:25Z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775D3287AB13446B8AFBC52751F1FB6B_12</vt:lpwstr>
  </property>
</Properties>
</file>